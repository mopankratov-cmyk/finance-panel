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43B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6243B"/>
                </a:solidFill>
                <a:latin typeface="Calibri"/>
              </a:rPr>
              <a:t>Логистика на выкупленную куртку, % выручки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Логистика, % выручки</c:v>
                </c:pt>
              </c:strCache>
            </c:strRef>
          </c:tx>
          <c:spPr>
            <a:solidFill>
              <a:srgbClr val="8FA0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600" u="none">
                    <a:solidFill>
                      <a:srgbClr val="1624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A0B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до 23.03</c:v>
                  </c:pt>
                  <c:pt idx="1">
                    <c:v>после ИРП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28</c:v>
                </c:pt>
                <c:pt idx="1">
                  <c:v>52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600" u="none">
                  <a:solidFill>
                    <a:srgbClr val="1624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B778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EEF2F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787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43B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6243B"/>
                </a:solidFill>
                <a:latin typeface="Calibri"/>
              </a:rPr>
              <a:t>Размер ниш (WB, год, топ-500 SKU), млрд ₽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Выручка топ-500 SKU, млрд ₽/год</c:v>
                </c:pt>
              </c:strCache>
            </c:strRef>
          </c:tx>
          <c:spPr>
            <a:solidFill>
              <a:srgbClr val="D4A24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624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Куртка</c:v>
                  </c:pt>
                  <c:pt idx="1">
                    <c:v>Пуховик жен</c:v>
                  </c:pt>
                  <c:pt idx="2">
                    <c:v>Ветровка</c:v>
                  </c:pt>
                  <c:pt idx="3">
                    <c:v>Пуховик муж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32.4</c:v>
                </c:pt>
                <c:pt idx="1">
                  <c:v>22.2</c:v>
                </c:pt>
                <c:pt idx="2">
                  <c:v>17.8</c:v>
                </c:pt>
                <c:pt idx="3">
                  <c:v>11.7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400" u="none">
                  <a:solidFill>
                    <a:srgbClr val="1624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B778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EF2F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787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43B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6243B"/>
                </a:solidFill>
                <a:latin typeface="Calibri"/>
              </a:rPr>
              <a:t>Сезонный индекс выручки, % к среднему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Пуховик</c:v>
                </c:pt>
              </c:strCache>
            </c:strRef>
          </c:tx>
          <c:spPr>
            <a:solidFill>
              <a:srgbClr val="0F1E33"/>
            </a:solidFill>
            <a:ln w="38100" cap="flat">
              <a:solidFill>
                <a:srgbClr val="0F1E3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F1E33"/>
              </a:solidFill>
              <a:ln w="9525" cap="flat">
                <a:solidFill>
                  <a:srgbClr val="0F1E3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янв</c:v>
                  </c:pt>
                  <c:pt idx="1">
                    <c:v>фев</c:v>
                  </c:pt>
                  <c:pt idx="2">
                    <c:v>мар</c:v>
                  </c:pt>
                  <c:pt idx="3">
                    <c:v>апр</c:v>
                  </c:pt>
                  <c:pt idx="4">
                    <c:v>май</c:v>
                  </c:pt>
                  <c:pt idx="5">
                    <c:v>июн</c:v>
                  </c:pt>
                  <c:pt idx="6">
                    <c:v>июл</c:v>
                  </c:pt>
                  <c:pt idx="7">
                    <c:v>авг</c:v>
                  </c:pt>
                  <c:pt idx="8">
                    <c:v>сен</c:v>
                  </c:pt>
                  <c:pt idx="9">
                    <c:v>окт</c:v>
                  </c:pt>
                  <c:pt idx="10">
                    <c:v>ноя</c:v>
                  </c:pt>
                  <c:pt idx="11">
                    <c:v>дек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</c:v>
                </c:pt>
                <c:pt idx="1">
                  <c:v>-21</c:v>
                </c:pt>
                <c:pt idx="2">
                  <c:v>-21</c:v>
                </c:pt>
                <c:pt idx="3">
                  <c:v>-61</c:v>
                </c:pt>
                <c:pt idx="4">
                  <c:v>-70</c:v>
                </c:pt>
                <c:pt idx="5">
                  <c:v>-79</c:v>
                </c:pt>
                <c:pt idx="6">
                  <c:v>-76</c:v>
                </c:pt>
                <c:pt idx="7">
                  <c:v>-40</c:v>
                </c:pt>
                <c:pt idx="8">
                  <c:v>23</c:v>
                </c:pt>
                <c:pt idx="9">
                  <c:v>120</c:v>
                </c:pt>
                <c:pt idx="10">
                  <c:v>143</c:v>
                </c:pt>
                <c:pt idx="11">
                  <c:v>76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Куртка</c:v>
                </c:pt>
              </c:strCache>
            </c:strRef>
          </c:tx>
          <c:spPr>
            <a:solidFill>
              <a:srgbClr val="D4A24E"/>
            </a:solidFill>
            <a:ln w="38100" cap="flat">
              <a:solidFill>
                <a:srgbClr val="D4A24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4A24E"/>
              </a:solidFill>
              <a:ln w="9525" cap="flat">
                <a:solidFill>
                  <a:srgbClr val="D4A24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янв</c:v>
                  </c:pt>
                  <c:pt idx="1">
                    <c:v>фев</c:v>
                  </c:pt>
                  <c:pt idx="2">
                    <c:v>мар</c:v>
                  </c:pt>
                  <c:pt idx="3">
                    <c:v>апр</c:v>
                  </c:pt>
                  <c:pt idx="4">
                    <c:v>май</c:v>
                  </c:pt>
                  <c:pt idx="5">
                    <c:v>июн</c:v>
                  </c:pt>
                  <c:pt idx="6">
                    <c:v>июл</c:v>
                  </c:pt>
                  <c:pt idx="7">
                    <c:v>авг</c:v>
                  </c:pt>
                  <c:pt idx="8">
                    <c:v>сен</c:v>
                  </c:pt>
                  <c:pt idx="9">
                    <c:v>окт</c:v>
                  </c:pt>
                  <c:pt idx="10">
                    <c:v>ноя</c:v>
                  </c:pt>
                  <c:pt idx="11">
                    <c:v>дек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-25</c:v>
                </c:pt>
                <c:pt idx="1">
                  <c:v>-4</c:v>
                </c:pt>
                <c:pt idx="2">
                  <c:v>57</c:v>
                </c:pt>
                <c:pt idx="3">
                  <c:v>-32</c:v>
                </c:pt>
                <c:pt idx="4">
                  <c:v>-57</c:v>
                </c:pt>
                <c:pt idx="5">
                  <c:v>-73</c:v>
                </c:pt>
                <c:pt idx="6">
                  <c:v>-73</c:v>
                </c:pt>
                <c:pt idx="7">
                  <c:v>-29</c:v>
                </c:pt>
                <c:pt idx="8">
                  <c:v>45</c:v>
                </c:pt>
                <c:pt idx="9">
                  <c:v>101</c:v>
                </c:pt>
                <c:pt idx="10">
                  <c:v>76</c:v>
                </c:pt>
                <c:pt idx="11">
                  <c:v>15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Ветровка</c:v>
                </c:pt>
              </c:strCache>
            </c:strRef>
          </c:tx>
          <c:spPr>
            <a:solidFill>
              <a:srgbClr val="8FB0CF"/>
            </a:solidFill>
            <a:ln w="38100" cap="flat">
              <a:solidFill>
                <a:srgbClr val="8FB0C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8FB0CF"/>
              </a:solidFill>
              <a:ln w="9525" cap="flat">
                <a:solidFill>
                  <a:srgbClr val="8FB0C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янв</c:v>
                  </c:pt>
                  <c:pt idx="1">
                    <c:v>фев</c:v>
                  </c:pt>
                  <c:pt idx="2">
                    <c:v>мар</c:v>
                  </c:pt>
                  <c:pt idx="3">
                    <c:v>апр</c:v>
                  </c:pt>
                  <c:pt idx="4">
                    <c:v>май</c:v>
                  </c:pt>
                  <c:pt idx="5">
                    <c:v>июн</c:v>
                  </c:pt>
                  <c:pt idx="6">
                    <c:v>июл</c:v>
                  </c:pt>
                  <c:pt idx="7">
                    <c:v>авг</c:v>
                  </c:pt>
                  <c:pt idx="8">
                    <c:v>сен</c:v>
                  </c:pt>
                  <c:pt idx="9">
                    <c:v>окт</c:v>
                  </c:pt>
                  <c:pt idx="10">
                    <c:v>ноя</c:v>
                  </c:pt>
                  <c:pt idx="11">
                    <c:v>дек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-58</c:v>
                </c:pt>
                <c:pt idx="1">
                  <c:v>-30</c:v>
                </c:pt>
                <c:pt idx="2">
                  <c:v>86</c:v>
                </c:pt>
                <c:pt idx="3">
                  <c:v>53</c:v>
                </c:pt>
                <c:pt idx="4">
                  <c:v>3</c:v>
                </c:pt>
                <c:pt idx="5">
                  <c:v>-44</c:v>
                </c:pt>
                <c:pt idx="6">
                  <c:v>-55</c:v>
                </c:pt>
                <c:pt idx="7">
                  <c:v>24</c:v>
                </c:pt>
                <c:pt idx="8">
                  <c:v>60</c:v>
                </c:pt>
                <c:pt idx="9">
                  <c:v>21</c:v>
                </c:pt>
                <c:pt idx="10">
                  <c:v>-18</c:v>
                </c:pt>
                <c:pt idx="11">
                  <c:v>-43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78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EF2F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787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>
              <a:solidFill>
                <a:srgbClr val="16243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43B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6243B"/>
                </a:solidFill>
                <a:latin typeface="Calibri"/>
              </a:rPr>
              <a:t>Прибыль за зимний сезон с закупа 37 млн ₽, млн ₽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Прибыль после ДРР, млн ₽</c:v>
                </c:pt>
              </c:strCache>
            </c:strRef>
          </c:tx>
          <c:spPr>
            <a:solidFill>
              <a:srgbClr val="8FB0C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500" u="none">
                    <a:solidFill>
                      <a:srgbClr val="1624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B0C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4A24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E8449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Консерв. 60%</c:v>
                  </c:pt>
                  <c:pt idx="1">
                    <c:v>База 80%</c:v>
                  </c:pt>
                  <c:pt idx="2">
                    <c:v>Оптимизм 95%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57</c:v>
                </c:pt>
                <c:pt idx="1">
                  <c:v>76</c:v>
                </c:pt>
                <c:pt idx="2">
                  <c:v>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500" u="none">
                  <a:solidFill>
                    <a:srgbClr val="1624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78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EF2F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787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2011680"/>
            <a:ext cx="5029200" cy="5029200"/>
          </a:xfrm>
          <a:prstGeom prst="ellipse">
            <a:avLst/>
          </a:prstGeom>
          <a:solidFill>
            <a:srgbClr val="16294A"/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4206240"/>
            <a:ext cx="3291840" cy="3291840"/>
          </a:xfrm>
          <a:prstGeom prst="ellipse">
            <a:avLst/>
          </a:prstGeom>
          <a:solidFill>
            <a:srgbClr val="16294A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63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ИНВЕСТИЦИОННОЕ ПРЕДЛОЖЕНИЕ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96596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RETAIL FAMILY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640080" y="32461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Верхняя одежда на Wildberries: куртки · ветровки · пуховики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411480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Удвоение оборота под индивидуальные условия </a:t>
            </a:r>
            <a:pPr indent="0" marL="0">
              <a:buNone/>
            </a:pPr>
            <a:r>
              <a:rPr lang="en-US" sz="1600" b="1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34,5% all-in</a:t>
            </a:r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закуп пуховиков под зимний сезон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61264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Конфиденциально · подготовлено на данных кабинета и MPSTATS · июнь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СУТЬ ПРЕДЛОЖЕНИЯ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Почему сейчас и почему это выгодно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2615184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783080"/>
            <a:ext cx="82296" cy="1417320"/>
          </a:xfrm>
          <a:prstGeom prst="rect">
            <a:avLst/>
          </a:prstGeom>
          <a:solidFill>
            <a:srgbClr val="16243B"/>
          </a:solidFill>
          <a:ln/>
        </p:spPr>
      </p:sp>
      <p:sp>
        <p:nvSpPr>
          <p:cNvPr id="6" name="Text 4"/>
          <p:cNvSpPr/>
          <p:nvPr/>
        </p:nvSpPr>
        <p:spPr>
          <a:xfrm>
            <a:off x="896112" y="1911096"/>
            <a:ext cx="2249424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60" b="1" dirty="0">
                <a:solidFill>
                  <a:srgbClr val="162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60+ млрд</a:t>
            </a:r>
            <a:endParaRPr lang="en-US" sz="2860" dirty="0"/>
          </a:p>
        </p:txBody>
      </p:sp>
      <p:sp>
        <p:nvSpPr>
          <p:cNvPr id="7" name="Text 5"/>
          <p:cNvSpPr/>
          <p:nvPr/>
        </p:nvSpPr>
        <p:spPr>
          <a:xfrm>
            <a:off x="896112" y="2605126"/>
            <a:ext cx="2203704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объём ниш куртки+пуховики+ветровки (WB, год)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502152" y="1783080"/>
            <a:ext cx="2615184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502152" y="1783080"/>
            <a:ext cx="82296" cy="1417320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10" name="Text 8"/>
          <p:cNvSpPr/>
          <p:nvPr/>
        </p:nvSpPr>
        <p:spPr>
          <a:xfrm>
            <a:off x="3758184" y="1911096"/>
            <a:ext cx="2249424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84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≈50%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758184" y="2605126"/>
            <a:ext cx="2203704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маржа юнита при сделке 34,5% all-in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364224" y="1783080"/>
            <a:ext cx="2615184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364224" y="1783080"/>
            <a:ext cx="82296" cy="1417320"/>
          </a:xfrm>
          <a:prstGeom prst="rect">
            <a:avLst/>
          </a:prstGeom>
          <a:solidFill>
            <a:srgbClr val="D4A24E"/>
          </a:solidFill>
          <a:ln/>
        </p:spPr>
      </p:sp>
      <p:sp>
        <p:nvSpPr>
          <p:cNvPr id="14" name="Text 12"/>
          <p:cNvSpPr/>
          <p:nvPr/>
        </p:nvSpPr>
        <p:spPr>
          <a:xfrm>
            <a:off x="6620256" y="1911096"/>
            <a:ext cx="2249424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60" b="1" dirty="0">
                <a:solidFill>
                  <a:srgbClr val="D4A2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1,5–2,4x</a:t>
            </a:r>
            <a:endParaRPr lang="en-US" sz="2860" dirty="0"/>
          </a:p>
        </p:txBody>
      </p:sp>
      <p:sp>
        <p:nvSpPr>
          <p:cNvPr id="15" name="Text 13"/>
          <p:cNvSpPr/>
          <p:nvPr/>
        </p:nvSpPr>
        <p:spPr>
          <a:xfrm>
            <a:off x="6620256" y="2605126"/>
            <a:ext cx="2203704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возврат на 37 млн за сезон (пуховики)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226296" y="1783080"/>
            <a:ext cx="2615184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226296" y="1783080"/>
            <a:ext cx="82296" cy="1417320"/>
          </a:xfrm>
          <a:prstGeom prst="rect">
            <a:avLst/>
          </a:prstGeom>
          <a:solidFill>
            <a:srgbClr val="16243B"/>
          </a:solidFill>
          <a:ln/>
        </p:spPr>
      </p:sp>
      <p:sp>
        <p:nvSpPr>
          <p:cNvPr id="18" name="Text 16"/>
          <p:cNvSpPr/>
          <p:nvPr/>
        </p:nvSpPr>
        <p:spPr>
          <a:xfrm>
            <a:off x="9482328" y="1911096"/>
            <a:ext cx="2249424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пика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9482328" y="2605126"/>
            <a:ext cx="2203704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весна (куртки) + зима (пуховики)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3611880"/>
            <a:ext cx="10908792" cy="2651760"/>
          </a:xfrm>
          <a:prstGeom prst="roundRect">
            <a:avLst>
              <a:gd name="adj" fmla="val 2759"/>
            </a:avLst>
          </a:prstGeom>
          <a:solidFill>
            <a:srgbClr val="EEF2F8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32688" y="3922776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2" name="Text 20"/>
          <p:cNvSpPr/>
          <p:nvPr/>
        </p:nvSpPr>
        <p:spPr>
          <a:xfrm>
            <a:off x="1280160" y="385876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Проблема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108960" y="3840480"/>
            <a:ext cx="80741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 ИРП (23.03) логистика курток выросла с 28% до 52% выручки — товар ушёл в ноль/минус.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932688" y="4709160"/>
            <a:ext cx="182880" cy="182880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25" name="Text 23"/>
          <p:cNvSpPr/>
          <p:nvPr/>
        </p:nvSpPr>
        <p:spPr>
          <a:xfrm>
            <a:off x="1280160" y="464515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84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Решение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3108960" y="4626864"/>
            <a:ext cx="80741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Индивидуальные условия Retail Family: фикс 34,5% all-in (комиссия+логистика+хранение).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932688" y="5495544"/>
            <a:ext cx="182880" cy="182880"/>
          </a:xfrm>
          <a:prstGeom prst="ellipse">
            <a:avLst/>
          </a:prstGeom>
          <a:solidFill>
            <a:srgbClr val="D4A24E"/>
          </a:solidFill>
          <a:ln/>
        </p:spPr>
      </p:sp>
      <p:sp>
        <p:nvSpPr>
          <p:cNvPr id="28" name="Text 26"/>
          <p:cNvSpPr/>
          <p:nvPr/>
        </p:nvSpPr>
        <p:spPr>
          <a:xfrm>
            <a:off x="1280160" y="543153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4A2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Рост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3108960" y="5413248"/>
            <a:ext cx="80741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Удвоение стока 37→74 млн ₽, новый закуп — в пуховики (зимний пик ноября +143%).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FAMILY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ИРП обрушил юнит-экономику куртки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920240"/>
          <a:ext cx="50292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035040" y="1920240"/>
            <a:ext cx="5532120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035040" y="1920240"/>
            <a:ext cx="82296" cy="118872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7" name="Text 4"/>
          <p:cNvSpPr/>
          <p:nvPr/>
        </p:nvSpPr>
        <p:spPr>
          <a:xfrm>
            <a:off x="6291072" y="2048256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2 338 ₽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6291072" y="2609698"/>
            <a:ext cx="5120640" cy="4517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логистика на 1 выкупленную куртку (после ИРП)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035040" y="3291840"/>
            <a:ext cx="5532120" cy="2377440"/>
          </a:xfrm>
          <a:prstGeom prst="roundRect">
            <a:avLst>
              <a:gd name="adj" fmla="val 2692"/>
            </a:avLst>
          </a:prstGeom>
          <a:solidFill>
            <a:srgbClr val="EEF2F8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309360" y="3456432"/>
            <a:ext cx="49834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3 790 выкупов — 16 922 доставки + 13 366 возвратов: ~22% доставок становятся выкупом (огромный невыкуп).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Обратная логистика уже зашита в эти 2 338 ₽.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Маржа куртки: до ИРП +17% → после ИРП ≈0…−12% (убыток после рекламы).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Комиссия у нас льготная ~2% — убийца не она, а логистика + невыкуп.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FAMILY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Фикс 34,5% all-in вместо растущей переменки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074920" cy="3886200"/>
          </a:xfrm>
          <a:prstGeom prst="roundRect">
            <a:avLst>
              <a:gd name="adj" fmla="val 1882"/>
            </a:avLst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205740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СЕЙЧАС · WB-ПЕРЕМЕНКА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60120" y="2606040"/>
            <a:ext cx="4434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Комиссия + логистика + хранение + возвраты — плавающие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Логистика выросла на ИРП до 52% выручки и растёт дальше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Невыкуп гоняет товар туда-обратно за твой счёт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 по куртке: ноль / убыток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96712" y="3246120"/>
            <a:ext cx="7680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6428232" y="1828800"/>
            <a:ext cx="5074920" cy="3886200"/>
          </a:xfrm>
          <a:prstGeom prst="roundRect">
            <a:avLst>
              <a:gd name="adj" fmla="val 1882"/>
            </a:avLst>
          </a:prstGeom>
          <a:solidFill>
            <a:srgbClr val="0F1E33"/>
          </a:solidFill>
          <a:ln/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748272" y="205740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FAMILY · 34,5% ALL-IN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748272" y="2606040"/>
            <a:ext cx="4434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7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Одна фикс-ставка = комиссия + логистика + хранение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7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Логистика и хранение зашиты — рост тарифов не твоя боль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7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Предсказуемая экономика на каждый юнит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b="1" dirty="0">
                <a:solidFill>
                  <a:srgbClr val="7FE3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 по куртке: маржа 40–52%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594360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MPSTATS только комиссия WB в этих нишах ≈ 34,5%. Значит фикс all-in ≈ голой комиссии — логистику и хранение получаешь «внутри».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FAMILY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РЫНОК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Ниши огромные и раздробленные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920240"/>
          <a:ext cx="658368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635240" y="1920240"/>
            <a:ext cx="3931920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635240" y="1920240"/>
            <a:ext cx="82296" cy="1188720"/>
          </a:xfrm>
          <a:prstGeom prst="rect">
            <a:avLst/>
          </a:prstGeom>
          <a:solidFill>
            <a:srgbClr val="16243B"/>
          </a:solidFill>
          <a:ln/>
        </p:spPr>
      </p:sp>
      <p:sp>
        <p:nvSpPr>
          <p:cNvPr id="7" name="Text 4"/>
          <p:cNvSpPr/>
          <p:nvPr/>
        </p:nvSpPr>
        <p:spPr>
          <a:xfrm>
            <a:off x="7891272" y="2048256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21–29%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7891272" y="2609698"/>
            <a:ext cx="3520440" cy="4517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доля топ-10 продавцов — монополиста нет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635240" y="3246120"/>
            <a:ext cx="3931920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635240" y="3246120"/>
            <a:ext cx="82296" cy="1188720"/>
          </a:xfrm>
          <a:prstGeom prst="rect">
            <a:avLst/>
          </a:prstGeom>
          <a:solidFill>
            <a:srgbClr val="6B7787"/>
          </a:solidFill>
          <a:ln/>
        </p:spPr>
      </p:sp>
      <p:sp>
        <p:nvSpPr>
          <p:cNvPr id="11" name="Text 8"/>
          <p:cNvSpPr/>
          <p:nvPr/>
        </p:nvSpPr>
        <p:spPr>
          <a:xfrm>
            <a:off x="7891272" y="3374136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B778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~50%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7891272" y="3935578"/>
            <a:ext cx="3520440" cy="4517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SKU в нише без продаж — решает исполнение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635240" y="4572000"/>
            <a:ext cx="3931920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7635240" y="4572000"/>
            <a:ext cx="82296" cy="1188720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15" name="Text 12"/>
          <p:cNvSpPr/>
          <p:nvPr/>
        </p:nvSpPr>
        <p:spPr>
          <a:xfrm>
            <a:off x="7891272" y="4700016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84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6–11 дн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7891272" y="5261458"/>
            <a:ext cx="3520440" cy="4517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оборачиваемость у лидеров ниши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FAMILY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СЕЗОННОСТЬ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Пуховик даёт второй пик в году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874520"/>
          <a:ext cx="740664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458200" y="1965960"/>
            <a:ext cx="3108960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458200" y="1965960"/>
            <a:ext cx="82296" cy="1188720"/>
          </a:xfrm>
          <a:prstGeom prst="rect">
            <a:avLst/>
          </a:prstGeom>
          <a:solidFill>
            <a:srgbClr val="0F1E33"/>
          </a:solidFill>
          <a:ln/>
        </p:spPr>
      </p:sp>
      <p:sp>
        <p:nvSpPr>
          <p:cNvPr id="7" name="Text 4"/>
          <p:cNvSpPr/>
          <p:nvPr/>
        </p:nvSpPr>
        <p:spPr>
          <a:xfrm>
            <a:off x="8714232" y="2093976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+143%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714232" y="2655418"/>
            <a:ext cx="2697480" cy="4517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пик пуховика в ноябре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8458200" y="3291840"/>
            <a:ext cx="3108960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458200" y="3291840"/>
            <a:ext cx="82296" cy="1188720"/>
          </a:xfrm>
          <a:prstGeom prst="rect">
            <a:avLst/>
          </a:prstGeom>
          <a:solidFill>
            <a:srgbClr val="D4A24E"/>
          </a:solidFill>
          <a:ln/>
        </p:spPr>
      </p:sp>
      <p:sp>
        <p:nvSpPr>
          <p:cNvPr id="11" name="Text 8"/>
          <p:cNvSpPr/>
          <p:nvPr/>
        </p:nvSpPr>
        <p:spPr>
          <a:xfrm>
            <a:off x="8714232" y="3419856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4A2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Весна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8714232" y="3981298"/>
            <a:ext cx="2697480" cy="4517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пик курток/ветровок: март–апрель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458200" y="4617720"/>
            <a:ext cx="3108960" cy="1234440"/>
          </a:xfrm>
          <a:prstGeom prst="roundRect">
            <a:avLst>
              <a:gd name="adj" fmla="val 5185"/>
            </a:avLst>
          </a:prstGeom>
          <a:solidFill>
            <a:srgbClr val="EEF2F8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686800" y="47548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Зимний пуховик + весенние куртки = две выручки в год на одной инфраструктуре, ровный кэшфлоу.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FAMILY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ЦЕНООБРАЗОВАНИЕ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Цена для клиента (после СПП) — в рынке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0879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194560"/>
                <a:gridCol w="2651760"/>
                <a:gridCol w="2496312"/>
                <a:gridCol w="164592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Категория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Цена до СПП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Клиент платит (−30%)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Рынок: медиана / p75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Позиция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Ветровка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6 500–7 500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4A2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4 550–5 250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3 855 / 5 782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медиана–p75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Куртка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11 000–13 500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4A2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7 700–9 450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6 147 / 7 388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p75–p90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Пуховик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14 000–17 000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4A2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9 800–11 900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9 507 / 12 771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медиана–p75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5074920"/>
            <a:ext cx="10908792" cy="1051560"/>
          </a:xfrm>
          <a:prstGeom prst="roundRect">
            <a:avLst>
              <a:gd name="adj" fmla="val 6087"/>
            </a:avLst>
          </a:prstGeom>
          <a:solidFill>
            <a:srgbClr val="EEF2F8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14400" y="5212080"/>
            <a:ext cx="10360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Юнит-экономика считается от цены ДО СПП (СПП ~30% финансирует WB). </a:t>
            </a:r>
            <a:pPr indent="0" marL="0">
              <a:buNone/>
            </a:pPr>
            <a:r>
              <a:rPr lang="en-US" sz="1350" b="1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клиента ты везде в зоне «медиана–p75» — премиум, но мейнстрим, не перецен.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FAMILY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ЮНИТ-ЭКОНОМИКА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Сделка + репрайс = маржа 40–52%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3154680" cy="1783080"/>
          </a:xfrm>
          <a:prstGeom prst="roundRect">
            <a:avLst>
              <a:gd name="adj" fmla="val 3590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874520"/>
            <a:ext cx="82296" cy="17830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6" name="Text 4"/>
          <p:cNvSpPr/>
          <p:nvPr/>
        </p:nvSpPr>
        <p:spPr>
          <a:xfrm>
            <a:off x="896112" y="2002536"/>
            <a:ext cx="278892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≈0…−12%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896112" y="2908706"/>
            <a:ext cx="2743200" cy="677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КУРТКА сейчас (после ИРП, цена ~5 000)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767328" y="233172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4343400" y="1874520"/>
            <a:ext cx="3154680" cy="1783080"/>
          </a:xfrm>
          <a:prstGeom prst="roundRect">
            <a:avLst>
              <a:gd name="adj" fmla="val 3590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874520"/>
            <a:ext cx="82296" cy="1783080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11" name="Text 9"/>
          <p:cNvSpPr/>
          <p:nvPr/>
        </p:nvSpPr>
        <p:spPr>
          <a:xfrm>
            <a:off x="4599432" y="2002536"/>
            <a:ext cx="278892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84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41%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4599432" y="2908706"/>
            <a:ext cx="2743200" cy="677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КУРТКА @12 000 при 34,5% (после ДРР)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977640"/>
          <a:ext cx="1090879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920240"/>
                <a:gridCol w="1920240"/>
                <a:gridCol w="1188720"/>
                <a:gridCol w="2862072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Товар (цена до СПП)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Себест+FF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Грязная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После ДРР 10%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Ветровка @7 000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1 100+100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3 385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2 685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Куртка @12 000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1 600+180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6 080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4 880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Пуховик @15 500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2 350+250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7 552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6 002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Text 11"/>
          <p:cNvSpPr/>
          <p:nvPr/>
        </p:nvSpPr>
        <p:spPr>
          <a:xfrm>
            <a:off x="640080" y="60350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Комиссия 34,5% all-in (логистика и хранение внутри). Маржа ~47–52% грязными по всем категориям.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FAMILY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СЦЕНАРИЙ РОСТА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37 млн ₽ → пуховики · возврат 1,5–2,4x за сезон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920240"/>
          <a:ext cx="6309360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360920" y="1920240"/>
            <a:ext cx="420624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60920" y="1920240"/>
            <a:ext cx="82296" cy="1143000"/>
          </a:xfrm>
          <a:prstGeom prst="rect">
            <a:avLst/>
          </a:prstGeom>
          <a:solidFill>
            <a:srgbClr val="16243B"/>
          </a:solidFill>
          <a:ln/>
        </p:spPr>
      </p:sp>
      <p:sp>
        <p:nvSpPr>
          <p:cNvPr id="7" name="Text 4"/>
          <p:cNvSpPr/>
          <p:nvPr/>
        </p:nvSpPr>
        <p:spPr>
          <a:xfrm>
            <a:off x="7616952" y="2048256"/>
            <a:ext cx="38404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~15 700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7616952" y="2583180"/>
            <a:ext cx="379476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пуховиков из 37 млн (себест ~2 350)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360920" y="3200400"/>
            <a:ext cx="420624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60920" y="3200400"/>
            <a:ext cx="82296" cy="1143000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11" name="Text 8"/>
          <p:cNvSpPr/>
          <p:nvPr/>
        </p:nvSpPr>
        <p:spPr>
          <a:xfrm>
            <a:off x="7616952" y="3328416"/>
            <a:ext cx="38404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60" b="1" dirty="0">
                <a:solidFill>
                  <a:srgbClr val="1E84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≈6 000 ₽</a:t>
            </a:r>
            <a:endParaRPr lang="en-US" sz="2860" dirty="0"/>
          </a:p>
        </p:txBody>
      </p:sp>
      <p:sp>
        <p:nvSpPr>
          <p:cNvPr id="12" name="Text 9"/>
          <p:cNvSpPr/>
          <p:nvPr/>
        </p:nvSpPr>
        <p:spPr>
          <a:xfrm>
            <a:off x="7616952" y="3863340"/>
            <a:ext cx="379476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прибыль на ед. после ДРР (цена 15 500)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360920" y="4480560"/>
            <a:ext cx="420624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7360920" y="4480560"/>
            <a:ext cx="82296" cy="1143000"/>
          </a:xfrm>
          <a:prstGeom prst="rect">
            <a:avLst/>
          </a:prstGeom>
          <a:solidFill>
            <a:srgbClr val="D4A24E"/>
          </a:solidFill>
          <a:ln/>
        </p:spPr>
      </p:sp>
      <p:sp>
        <p:nvSpPr>
          <p:cNvPr id="15" name="Text 12"/>
          <p:cNvSpPr/>
          <p:nvPr/>
        </p:nvSpPr>
        <p:spPr>
          <a:xfrm>
            <a:off x="7616952" y="4608576"/>
            <a:ext cx="38404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40" b="1" dirty="0">
                <a:solidFill>
                  <a:srgbClr val="D4A2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146–232 млн</a:t>
            </a:r>
            <a:endParaRPr lang="en-US" sz="2440" dirty="0"/>
          </a:p>
        </p:txBody>
      </p:sp>
      <p:sp>
        <p:nvSpPr>
          <p:cNvPr id="16" name="Text 13"/>
          <p:cNvSpPr/>
          <p:nvPr/>
        </p:nvSpPr>
        <p:spPr>
          <a:xfrm>
            <a:off x="7616952" y="5143500"/>
            <a:ext cx="379476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выручка за сезон (sell-through 60–95%)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40080" y="589788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вычета возвратной логистики, потерь/брака, стоимости денег и команды. Объём агрессивный — нужны контент и рекламный бюджет.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FAMILY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РИСКИ И КАК ЗАКРЫВАЕМ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Что может пойти не так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908792" cy="694944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828800"/>
            <a:ext cx="82296" cy="694944"/>
          </a:xfrm>
          <a:prstGeom prst="rect">
            <a:avLst/>
          </a:prstGeom>
          <a:solidFill>
            <a:srgbClr val="D4A24E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1865376"/>
            <a:ext cx="3108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4A2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Агрессивный объём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206240" y="1865376"/>
            <a:ext cx="70683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146–232 млн в премиум-пуховике = войти в топ-продавцы. Закрываем контентом, рекламой, поэтапным вводом.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2651760"/>
            <a:ext cx="10908792" cy="694944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651760"/>
            <a:ext cx="82296" cy="69494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0" name="Text 8"/>
          <p:cNvSpPr/>
          <p:nvPr/>
        </p:nvSpPr>
        <p:spPr>
          <a:xfrm>
            <a:off x="960120" y="2688336"/>
            <a:ext cx="3108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Невыкуп / возвраты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206240" y="2688336"/>
            <a:ext cx="70683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курток ~22% выкуп по доставкам. Размерные сетки, фото-точность, работа с карточкой.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474720"/>
            <a:ext cx="10908792" cy="694944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3474720"/>
            <a:ext cx="82296" cy="694944"/>
          </a:xfrm>
          <a:prstGeom prst="rect">
            <a:avLst/>
          </a:prstGeom>
          <a:solidFill>
            <a:srgbClr val="6B7787"/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" y="3511296"/>
            <a:ext cx="3108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778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Зависимость от СПП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206240" y="3511296"/>
            <a:ext cx="70683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СПП финансирует WB и может меняться. Запас по марже 40–52% поглощает сдвиг.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4297680"/>
            <a:ext cx="10908792" cy="694944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4297680"/>
            <a:ext cx="82296" cy="694944"/>
          </a:xfrm>
          <a:prstGeom prst="rect">
            <a:avLst/>
          </a:prstGeom>
          <a:solidFill>
            <a:srgbClr val="16243B"/>
          </a:solidFill>
          <a:ln/>
        </p:spPr>
      </p:sp>
      <p:sp>
        <p:nvSpPr>
          <p:cNvPr id="18" name="Text 16"/>
          <p:cNvSpPr/>
          <p:nvPr/>
        </p:nvSpPr>
        <p:spPr>
          <a:xfrm>
            <a:off x="960120" y="4334256"/>
            <a:ext cx="3108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Пуховик без истории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206240" y="4334256"/>
            <a:ext cx="70683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Новая категория. Рыночные ориентиры MPSTATS + тестовый ввод до пиковой закупки.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5120640"/>
            <a:ext cx="10908792" cy="694944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" y="5120640"/>
            <a:ext cx="82296" cy="694944"/>
          </a:xfrm>
          <a:prstGeom prst="rect">
            <a:avLst/>
          </a:prstGeom>
          <a:solidFill>
            <a:srgbClr val="0F1E33"/>
          </a:solidFill>
          <a:ln/>
        </p:spPr>
      </p:sp>
      <p:sp>
        <p:nvSpPr>
          <p:cNvPr id="22" name="Text 20"/>
          <p:cNvSpPr/>
          <p:nvPr/>
        </p:nvSpPr>
        <p:spPr>
          <a:xfrm>
            <a:off x="960120" y="5157216"/>
            <a:ext cx="3108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Сезонное окно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206240" y="5157216"/>
            <a:ext cx="70683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Пуховик продаётся окт–янв. Заходим до пика, остаток уводим в следующий сезон.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FAMILY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4023360"/>
            <a:ext cx="4572000" cy="4572000"/>
          </a:xfrm>
          <a:prstGeom prst="ellipse">
            <a:avLst/>
          </a:prstGeom>
          <a:solidFill>
            <a:srgbClr val="16294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ПРЕДЛОЖЕНИЕ ИНВЕСТОРУ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Запрос и условия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5394960" cy="2743200"/>
          </a:xfrm>
          <a:prstGeom prst="roundRect">
            <a:avLst>
              <a:gd name="adj" fmla="val 2667"/>
            </a:avLst>
          </a:prstGeom>
          <a:solidFill>
            <a:srgbClr val="16294A"/>
          </a:solidFill>
          <a:ln w="19050">
            <a:solidFill>
              <a:srgbClr val="D4A24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103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ЗАПРОС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60120" y="2450592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37 млн ₽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960120" y="3364992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удвоение стока — закуп пуховиков под зимний сезон (~15 700 шт).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309360" y="1920240"/>
            <a:ext cx="539496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0" y="2103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УСЛОВИЯ ДЛЯ ИНВЕСТОРА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583680" y="251460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50" i="1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Структура сделки — заполнить:</a:t>
            </a:r>
            <a:endParaRPr lang="en-US" sz="13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35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Доля в прибыли проекта   ____ %</a:t>
            </a:r>
            <a:endParaRPr lang="en-US" sz="13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35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или заём под ____ % на ____ мес</a:t>
            </a:r>
            <a:endParaRPr lang="en-US" sz="13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35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или доля в компании ____ %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Срок возврата / выхода: ____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40080" y="50292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сейчас: </a:t>
            </a:r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фикс 34,5% all-in спасает маржу от растущей логистики, репрайс — в рынок, пуховик открывает зимний сезон. Юнит даёт ~50%.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FAMILY · июнь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Retail Family — инвестиционное предложение</dc:title>
  <dc:subject>PptxGenJS Presentation</dc:subject>
  <dc:creator>Retail Family</dc:creator>
  <cp:lastModifiedBy>Retail Family</cp:lastModifiedBy>
  <cp:revision>1</cp:revision>
  <dcterms:created xsi:type="dcterms:W3CDTF">2026-06-18T18:20:53Z</dcterms:created>
  <dcterms:modified xsi:type="dcterms:W3CDTF">2026-06-18T18:20:53Z</dcterms:modified>
</cp:coreProperties>
</file>