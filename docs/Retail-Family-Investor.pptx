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4206240" cy="420624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ИНВЕСТИЦИОННОЕ ПРЕДЛОЖЕНИЕ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FAMILY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Верхняя одежда на Wildberries: куртки · ветровки · пуховики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Удвоение оборота под индивидуальные условия </a:t>
            </a:r>
            <a:pPr indent="0" marL="0">
              <a:buNone/>
            </a:pPr>
            <a:r>
              <a:rPr lang="en-US" sz="15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34,5% all-in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закуп пуховиков под зимний сезон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NORVIA · конфиденциально · данные кабинета и MPSTATS · июнь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36408" y="1325880"/>
            <a:ext cx="18379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pic>
        <p:nvPicPr>
          <p:cNvPr id="9" name="Image 0" descr="/tmp/rf-deck/img/products/куртка_NV-836-3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82128" y="1371600"/>
            <a:ext cx="1746504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692640" y="1325880"/>
            <a:ext cx="18379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pic>
        <p:nvPicPr>
          <p:cNvPr id="11" name="Image 1" descr="/tmp/rf-deck/img/products/ветровка_HT-80-1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38360" y="1371600"/>
            <a:ext cx="1746504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548872" y="1325880"/>
            <a:ext cx="1837944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pic>
        <p:nvPicPr>
          <p:cNvPr id="13" name="Image 2" descr="/tmp/rf-deck/img/products/куртка_NV-08-0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594592" y="1371600"/>
            <a:ext cx="1746504" cy="2331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82128" y="3840480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куртки · ветровки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ПРЕДЛОЖЕНИЯ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сейчас и почему это выгодно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41732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224942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 млрд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590952"/>
            <a:ext cx="2203704" cy="552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ниш куртки+пуховики+ветровки (WB, год)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783080"/>
            <a:ext cx="82296" cy="14173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/>
          <p:nvPr/>
        </p:nvSpPr>
        <p:spPr>
          <a:xfrm>
            <a:off x="3758184" y="1901952"/>
            <a:ext cx="224942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≈50%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58184" y="2590952"/>
            <a:ext cx="2203704" cy="552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юнита при сделке 34,5% all-in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64224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4224" y="1783080"/>
            <a:ext cx="82296" cy="141732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4" name="Text 12"/>
          <p:cNvSpPr/>
          <p:nvPr/>
        </p:nvSpPr>
        <p:spPr>
          <a:xfrm>
            <a:off x="6620256" y="1901952"/>
            <a:ext cx="224942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1,5–2,4x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20256" y="2590952"/>
            <a:ext cx="2203704" cy="552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на 37 млн за сезон (пуховики)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26296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26296" y="1783080"/>
            <a:ext cx="82296" cy="141732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482328" y="1901952"/>
            <a:ext cx="224942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пика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482328" y="2590952"/>
            <a:ext cx="2203704" cy="552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 (куртки) + зима (пуховики)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10908792" cy="2651760"/>
          </a:xfrm>
          <a:prstGeom prst="roundRect">
            <a:avLst>
              <a:gd name="adj" fmla="val 2759"/>
            </a:avLst>
          </a:prstGeom>
          <a:solidFill>
            <a:srgbClr val="EEF2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92277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3840480"/>
            <a:ext cx="8074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ИРП (23.03) логистика курток выросла с 28% до 52% выручки — товар ушёл в ноль/минус.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32688" y="4709160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645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08960" y="4626864"/>
            <a:ext cx="8074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Индивидуальные условия Retail Family: фикс 34,5% all-in (комиссия+логистика+хранение).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2688" y="5495544"/>
            <a:ext cx="182880" cy="182880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5431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108960" y="5413248"/>
            <a:ext cx="8074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Удвоение стока 37→74 млн ₽, новый закуп — в пуховики (зимний пик ноября +143%).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ТРЕК-РЕКОРД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Уже продаём: 30,8 млн ₽ за 5 месяцев</a:t>
            </a:r>
            <a:endParaRPr lang="en-US" sz="3000" dirty="0"/>
          </a:p>
        </p:txBody>
      </p:sp>
      <p:pic>
        <p:nvPicPr>
          <p:cNvPr id="4" name="Image 0" descr="/tmp/rf-deck/img/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12648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57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Сезонная связка: куртки выстрелили в марте, ветровки подхватили апрель–май.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086600" y="1828800"/>
            <a:ext cx="457200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86600" y="1828800"/>
            <a:ext cx="82296" cy="1078992"/>
          </a:xfrm>
          <a:prstGeom prst="rect">
            <a:avLst/>
          </a:prstGeom>
          <a:solidFill>
            <a:srgbClr val="0F1E33"/>
          </a:solidFill>
          <a:ln/>
        </p:spPr>
      </p:sp>
      <p:sp>
        <p:nvSpPr>
          <p:cNvPr id="8" name="Text 5"/>
          <p:cNvSpPr/>
          <p:nvPr/>
        </p:nvSpPr>
        <p:spPr>
          <a:xfrm>
            <a:off x="7342632" y="1947672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40" b="1" dirty="0">
                <a:solidFill>
                  <a:srgbClr val="0F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17,5 млн ₽</a:t>
            </a:r>
            <a:endParaRPr lang="en-US" sz="2540" dirty="0"/>
          </a:p>
        </p:txBody>
      </p:sp>
      <p:sp>
        <p:nvSpPr>
          <p:cNvPr id="9" name="Text 6"/>
          <p:cNvSpPr/>
          <p:nvPr/>
        </p:nvSpPr>
        <p:spPr>
          <a:xfrm>
            <a:off x="7342632" y="2443825"/>
            <a:ext cx="4160520" cy="42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КУРТКИ за март 2026 (3 044 заказа)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3035808"/>
            <a:ext cx="457200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86600" y="3035808"/>
            <a:ext cx="82296" cy="1078992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2" name="Text 9"/>
          <p:cNvSpPr/>
          <p:nvPr/>
        </p:nvSpPr>
        <p:spPr>
          <a:xfrm>
            <a:off x="7342632" y="3154680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млн ₽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42632" y="3650833"/>
            <a:ext cx="4160520" cy="42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ВЕТРОВКИ за апрель–май (HT-)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0" y="4270248"/>
            <a:ext cx="1463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pic>
        <p:nvPicPr>
          <p:cNvPr id="15" name="Image 1" descr="/tmp/rf-deck/img/products/куртка_NV-01-3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4315968"/>
            <a:ext cx="1371600" cy="1828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18120" y="5852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куртка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509760" y="4270248"/>
            <a:ext cx="1463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pic>
        <p:nvPicPr>
          <p:cNvPr id="18" name="Image 2" descr="/tmp/rf-deck/img/products/ветровка_HT-83-1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55480" y="4315968"/>
            <a:ext cx="1371600" cy="1828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55480" y="5852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ветровка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ИРП обрушил юнит-экономику куртки</a:t>
            </a:r>
            <a:endParaRPr lang="en-US" sz="3000" dirty="0"/>
          </a:p>
        </p:txBody>
      </p:sp>
      <p:pic>
        <p:nvPicPr>
          <p:cNvPr id="4" name="Image 0" descr="/tmp/rf-deck/img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29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920240"/>
            <a:ext cx="55321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920240"/>
            <a:ext cx="82296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6291072" y="203911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2 338 ₽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291072" y="2597810"/>
            <a:ext cx="512064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на 1 выкупленную куртку (после ИРП)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3291840"/>
            <a:ext cx="5532120" cy="2377440"/>
          </a:xfrm>
          <a:prstGeom prst="roundRect">
            <a:avLst>
              <a:gd name="adj" fmla="val 2692"/>
            </a:avLst>
          </a:prstGeom>
          <a:solidFill>
            <a:srgbClr val="EEF2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3456432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3 790 выкупов — 16 922 доставки + 13 366 возвратов: ~22% доставок становятся выкупом (огромный невыкуп).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логистика уже зашита в эти 2 338 ₽.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куртки: до ИРП +17% → после ИРП ≈0…−12% (убыток после рекламы).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у нас льготная ~2% — убийца не она, а логистика + невыкуп.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Фикс 34,5% all-in вместо растущей переменки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· WB-ПЕРЕМЕНКА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+ логистика + хранение + возвраты — плавающие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выросла на ИРП до 52% выручки и растёт дальше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Невыкуп гоняет товар туда-обратно за твой счёт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по куртке: ноль / убыток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96712" y="3246120"/>
            <a:ext cx="768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28232" y="182880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48272" y="2057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 · 34,5% ALL-IN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60604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фикс-ставка = комиссия + логистика + хранение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и хранение зашиты — рост тарифов не твоя боль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Предсказуемая экономика на каждый юнит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7FE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по куртке: маржа 40–52%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MPSTATS только комиссия WB в этих нишах ≈ 34,5%. Значит фикс all-in ≈ голой комиссии — логистику и хранение получаешь «внутри».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Ниши огромные и раздробленные</a:t>
            </a:r>
            <a:endParaRPr lang="en-US" sz="3000" dirty="0"/>
          </a:p>
        </p:txBody>
      </p:sp>
      <p:pic>
        <p:nvPicPr>
          <p:cNvPr id="4" name="Image 0" descr="/tmp/rf-deck/img/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583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92024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35240" y="1920240"/>
            <a:ext cx="82296" cy="118872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7" name="Text 4"/>
          <p:cNvSpPr/>
          <p:nvPr/>
        </p:nvSpPr>
        <p:spPr>
          <a:xfrm>
            <a:off x="7891272" y="20391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21–29%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91272" y="2597810"/>
            <a:ext cx="352044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топ-10 продавцов — монополиста нет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324612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35240" y="3246120"/>
            <a:ext cx="82296" cy="1188720"/>
          </a:xfrm>
          <a:prstGeom prst="rect">
            <a:avLst/>
          </a:prstGeom>
          <a:solidFill>
            <a:srgbClr val="6B7787"/>
          </a:solidFill>
          <a:ln/>
        </p:spPr>
      </p:sp>
      <p:sp>
        <p:nvSpPr>
          <p:cNvPr id="11" name="Text 8"/>
          <p:cNvSpPr/>
          <p:nvPr/>
        </p:nvSpPr>
        <p:spPr>
          <a:xfrm>
            <a:off x="7891272" y="33649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891272" y="3923690"/>
            <a:ext cx="352044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в нише без продаж — решает исполнение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4572000"/>
            <a:ext cx="39319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35240" y="4572000"/>
            <a:ext cx="82296" cy="11887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2"/>
          <p:cNvSpPr/>
          <p:nvPr/>
        </p:nvSpPr>
        <p:spPr>
          <a:xfrm>
            <a:off x="7891272" y="46908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6–11 дн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891272" y="5249570"/>
            <a:ext cx="352044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оборачиваемость у лидеров ниши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Пуховик даёт второй пик в году</a:t>
            </a:r>
            <a:endParaRPr lang="en-US" sz="3000" dirty="0"/>
          </a:p>
        </p:txBody>
      </p:sp>
      <p:pic>
        <p:nvPicPr>
          <p:cNvPr id="4" name="Image 0" descr="/tmp/rf-deck/img/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4066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965960"/>
            <a:ext cx="31089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58200" y="1965960"/>
            <a:ext cx="82296" cy="1188720"/>
          </a:xfrm>
          <a:prstGeom prst="rect">
            <a:avLst/>
          </a:prstGeom>
          <a:solidFill>
            <a:srgbClr val="0F1E33"/>
          </a:solidFill>
          <a:ln/>
        </p:spPr>
      </p:sp>
      <p:sp>
        <p:nvSpPr>
          <p:cNvPr id="7" name="Text 4"/>
          <p:cNvSpPr/>
          <p:nvPr/>
        </p:nvSpPr>
        <p:spPr>
          <a:xfrm>
            <a:off x="8714232" y="2084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+143%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714232" y="2643530"/>
            <a:ext cx="269748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пуховика в ноябре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58200" y="3291840"/>
            <a:ext cx="31089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0" y="3291840"/>
            <a:ext cx="82296" cy="118872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1" name="Text 8"/>
          <p:cNvSpPr/>
          <p:nvPr/>
        </p:nvSpPr>
        <p:spPr>
          <a:xfrm>
            <a:off x="8714232" y="34107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Весна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714232" y="3969410"/>
            <a:ext cx="269748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курток/ветровок: март–апрель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58200" y="4617720"/>
            <a:ext cx="3108960" cy="1234440"/>
          </a:xfrm>
          <a:prstGeom prst="roundRect">
            <a:avLst>
              <a:gd name="adj" fmla="val 5185"/>
            </a:avLst>
          </a:prstGeom>
          <a:solidFill>
            <a:srgbClr val="EEF2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4754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Зимний пуховик + весенние куртки = две выручки в год на одной инфраструктуре, ровный кэшфлоу.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ЦЕНООБРАЗОВАНИЕ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Цена для клиента (после СПП) — в рынке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651760"/>
                <a:gridCol w="2496312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до СПП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 платит (−30%)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Рынок: медиана / p75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Ветровка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6 500–7 500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4 550–5 250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3 855 / 5 782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медиана–p75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Куртка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11 000–13 500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7 700–9 450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6 147 / 7 388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p75–p90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Пуховик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14 000–17 000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9 800–11 900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9 507 / 12 771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медиана–p75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6087"/>
            </a:avLst>
          </a:prstGeom>
          <a:solidFill>
            <a:srgbClr val="EEF2F8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21208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 считается от цены ДО СПП (СПП ~30% финансирует WB). </a:t>
            </a:r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клиента ты везде в зоне «медиана–p75» — премиум, но мейнстрим, не перецен.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Сделка + репрайс = маржа 40–52%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154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82296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93392"/>
            <a:ext cx="27889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≈0…−12%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890876"/>
            <a:ext cx="2743200" cy="69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КУРТКА сейчас (после ИРП, цена ~5 000)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67328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154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74520"/>
            <a:ext cx="82296" cy="1783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93392"/>
            <a:ext cx="27889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99432" y="2890876"/>
            <a:ext cx="2743200" cy="69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КУРТКА @12 000 при 34,5% (после ДРР)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9087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920240"/>
                <a:gridCol w="1188720"/>
                <a:gridCol w="28620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Товар (цена до СПП)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Себест+FF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Грязная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ДРР 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Ветровка @7 000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1 100+100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3 385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Куртка @12 000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1 600+180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4 880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Пуховик @15 500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2 350+250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7 552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34,5% all-in (логистика и хранение внутри). Маржа ~47–52% грязными по всем категориям.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РОСТА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млн ₽ → пуховики · возврат 1,5–2,4x за сезон</a:t>
            </a:r>
            <a:endParaRPr lang="en-US" sz="3000" dirty="0"/>
          </a:p>
        </p:txBody>
      </p:sp>
      <p:pic>
        <p:nvPicPr>
          <p:cNvPr id="4" name="Image 0" descr="/tmp/rf-deck/img/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30936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920240"/>
            <a:ext cx="4206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60920" y="1920240"/>
            <a:ext cx="82296" cy="1143000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7" name="Text 4"/>
          <p:cNvSpPr/>
          <p:nvPr/>
        </p:nvSpPr>
        <p:spPr>
          <a:xfrm>
            <a:off x="7616952" y="2039112"/>
            <a:ext cx="3840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~15 700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616952" y="2571750"/>
            <a:ext cx="3794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пуховиков из 37 млн (себест ~2 350)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0920" y="3200400"/>
            <a:ext cx="4206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3200400"/>
            <a:ext cx="82296" cy="11430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8"/>
          <p:cNvSpPr/>
          <p:nvPr/>
        </p:nvSpPr>
        <p:spPr>
          <a:xfrm>
            <a:off x="7616952" y="3319272"/>
            <a:ext cx="3840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≈6 000 ₽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616952" y="3851910"/>
            <a:ext cx="3794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на ед. после ДРР (цена 15 500)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60920" y="4480560"/>
            <a:ext cx="42062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E3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4480560"/>
            <a:ext cx="82296" cy="114300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5" name="Text 12"/>
          <p:cNvSpPr/>
          <p:nvPr/>
        </p:nvSpPr>
        <p:spPr>
          <a:xfrm>
            <a:off x="7616952" y="4599432"/>
            <a:ext cx="3840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1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146–232 млн</a:t>
            </a:r>
            <a:endParaRPr lang="en-US" sz="2410" dirty="0"/>
          </a:p>
        </p:txBody>
      </p:sp>
      <p:sp>
        <p:nvSpPr>
          <p:cNvPr id="16" name="Text 13"/>
          <p:cNvSpPr/>
          <p:nvPr/>
        </p:nvSpPr>
        <p:spPr>
          <a:xfrm>
            <a:off x="7616952" y="5132070"/>
            <a:ext cx="3794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за сезон (sell-through 60–95%)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58978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вычета возвратной логистики, потерь/брака, стоимости денег и команды. Объём агрессивный — нужны контент и рекламный бюджет.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КАК ЗАКРЫВАЕМ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может пойти не так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694944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6537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Агрессивный объём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865376"/>
            <a:ext cx="7068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146–232 млн в премиум-пуховике = войти в топ-продавцы. Закрываем контентом, рекламой, поэтапным вводом.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9087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1760"/>
            <a:ext cx="82296" cy="6949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8833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Невыкуп / возвраты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688336"/>
            <a:ext cx="7068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курток ~22% выкуп по доставкам. Размерные сетки, фото-точность, работа с карточкой.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09087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82296" cy="694944"/>
          </a:xfrm>
          <a:prstGeom prst="rect">
            <a:avLst/>
          </a:prstGeom>
          <a:solidFill>
            <a:srgbClr val="6B778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5112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Зависимость от СПП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511296"/>
            <a:ext cx="7068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СПП финансирует WB и может меняться. Запас по марже 40–52% поглощает сдвиг.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9087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297680"/>
            <a:ext cx="82296" cy="694944"/>
          </a:xfrm>
          <a:prstGeom prst="rect">
            <a:avLst/>
          </a:prstGeom>
          <a:solidFill>
            <a:srgbClr val="162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3342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Пуховик без истории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4334256"/>
            <a:ext cx="7068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категория. Рыночные ориентиры MPSTATS + тестовый ввод до пиковой закупки.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109087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120640"/>
            <a:ext cx="82296" cy="694944"/>
          </a:xfrm>
          <a:prstGeom prst="rect">
            <a:avLst/>
          </a:prstGeom>
          <a:solidFill>
            <a:srgbClr val="0F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1572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Сезонное окно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5157216"/>
            <a:ext cx="7068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Пуховик продаётся окт–янв. Заходим до пика, остаток уводим в следующий сезон.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4572000" cy="45720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ИНВЕСТОРУ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Запрос и условия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6294A"/>
          </a:solidFill>
          <a:ln w="19050">
            <a:solidFill>
              <a:srgbClr val="D4A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4505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млн ₽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36499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удвоение стока — закуп пуховиков под зимний сезон (~15 700 шт).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ДЛЯ ИНВЕСТОРА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сделки — заполнить: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 прибыли проекта   ____ %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заём под ____ % на ____ мес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доля в компании ____ %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возврата / выхода: ____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сейчас: </a:t>
            </a:r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 34,5% all-in спасает маржу от растущей логистики, репрайс — в рынок, пуховик открывает зимний сезон. Юнит даёт ~50%.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FAMILY · NORVIA · июнь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Family — инвестиционное предложение</dc:title>
  <dc:subject>PptxGenJS Presentation</dc:subject>
  <dc:creator>Retail Family</dc:creator>
  <cp:lastModifiedBy>Retail Family</cp:lastModifiedBy>
  <cp:revision>1</cp:revision>
  <dcterms:created xsi:type="dcterms:W3CDTF">2026-06-18T18:54:06Z</dcterms:created>
  <dcterms:modified xsi:type="dcterms:W3CDTF">2026-06-18T18:54:06Z</dcterms:modified>
</cp:coreProperties>
</file>