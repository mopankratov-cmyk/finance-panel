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206240" cy="420624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ИНВЕСТИЦИОННОЕ ПРЕДЛОЖЕНИЕ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FAMILY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Верхняя одежда на Wildberries: куртки · ветровки · пуховики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Инвестиции </a:t>
            </a:r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млн ₽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индивидуальные условия 34,5% all-in + закуп пуховиков под зимний сезон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Бренд NORVIA · конфиденциально · данные кабинета и MPSTATS · июнь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26680" y="1508760"/>
            <a:ext cx="2011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9" name="Image 0" descr="/tmp/rf-deck/img/products/куртка_NV-836-3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554480"/>
            <a:ext cx="1920240" cy="2560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875520" y="1508760"/>
            <a:ext cx="2011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1" name="Image 1" descr="/tmp/rf-deck/img/products/ветровка_HT-80-1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921240" y="1554480"/>
            <a:ext cx="1920240" cy="2560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0" y="42245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куртки · ветровки · бренд NORVIA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СУТЬ ПРЕДЛОЖЕНИЯ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сейчас и почему это выгодно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млрд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ниш куртки+пуховики+ветровки (WB, год)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02152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02152" y="1783080"/>
            <a:ext cx="82296" cy="14173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0" name="Text 8"/>
          <p:cNvSpPr/>
          <p:nvPr/>
        </p:nvSpPr>
        <p:spPr>
          <a:xfrm>
            <a:off x="3758184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≈50%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758184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юнита при сделке 34,5% all-in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64224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64224" y="1783080"/>
            <a:ext cx="82296" cy="14173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4" name="Text 12"/>
          <p:cNvSpPr/>
          <p:nvPr/>
        </p:nvSpPr>
        <p:spPr>
          <a:xfrm>
            <a:off x="6620256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2,0–3,4x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20256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 30 млн за сезон (сток+закуп)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26296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226296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482328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пика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482328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весна (куртки) + зима (пуховики)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611880"/>
            <a:ext cx="10908792" cy="2651760"/>
          </a:xfrm>
          <a:prstGeom prst="roundRect">
            <a:avLst>
              <a:gd name="adj" fmla="val 2759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3922776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3840480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ИРП (23.03) логистика курток выросла с 28% до 52% выручки — товар ушёл в ноль/минус.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32688" y="4709160"/>
            <a:ext cx="182880" cy="18288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5" name="Text 23"/>
          <p:cNvSpPr/>
          <p:nvPr/>
        </p:nvSpPr>
        <p:spPr>
          <a:xfrm>
            <a:off x="1280160" y="4645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108960" y="4626864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Индивидуальные условия Retail Family: фикс 34,5% all-in (комиссия+логистика+хранение).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32688" y="5495544"/>
            <a:ext cx="182880" cy="182880"/>
          </a:xfrm>
          <a:prstGeom prst="ellipse">
            <a:avLst/>
          </a:prstGeom>
          <a:solidFill>
            <a:srgbClr val="D4A24E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54315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108960" y="5413248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19 215 шт на WB (~192 млн GMV); +20 млн в пуховики (зимний пик), +10 млн на условия 34,5%.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ТРЕК-РЕКОРД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Уже продаём: 30,8 млн ₽ за 5 месяцев</a:t>
            </a:r>
            <a:endParaRPr lang="en-US" sz="3000" dirty="0"/>
          </a:p>
        </p:txBody>
      </p:sp>
      <p:pic>
        <p:nvPicPr>
          <p:cNvPr id="4" name="Image 0" descr="/tmp/rf-deck/img/s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126480" cy="3337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25780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Сезонная связка: куртки выстрелили в марте, ветровки подхватили апрель–май.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086600" y="1828800"/>
            <a:ext cx="457200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86600" y="1828800"/>
            <a:ext cx="82296" cy="1078992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8" name="Text 5"/>
          <p:cNvSpPr/>
          <p:nvPr/>
        </p:nvSpPr>
        <p:spPr>
          <a:xfrm>
            <a:off x="7342632" y="1947672"/>
            <a:ext cx="42062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17,5 млн ₽</a:t>
            </a:r>
            <a:endParaRPr lang="en-US" sz="2540" dirty="0"/>
          </a:p>
        </p:txBody>
      </p:sp>
      <p:sp>
        <p:nvSpPr>
          <p:cNvPr id="9" name="Text 6"/>
          <p:cNvSpPr/>
          <p:nvPr/>
        </p:nvSpPr>
        <p:spPr>
          <a:xfrm>
            <a:off x="7342632" y="2443825"/>
            <a:ext cx="4160520" cy="420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КУРТКИ за март 2026 (3 044 заказа)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086600" y="3035808"/>
            <a:ext cx="457200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86600" y="3035808"/>
            <a:ext cx="82296" cy="1078992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2" name="Text 9"/>
          <p:cNvSpPr/>
          <p:nvPr/>
        </p:nvSpPr>
        <p:spPr>
          <a:xfrm>
            <a:off x="7342632" y="3154680"/>
            <a:ext cx="42062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млн ₽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342632" y="3650833"/>
            <a:ext cx="4160520" cy="420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ВЕТРОВКИ за апрель–май (HT-)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0" y="4270248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5" name="Image 1" descr="/tmp/rf-deck/img/products/куртка_NV-01-3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315968"/>
            <a:ext cx="13716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18120" y="5852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509760" y="4270248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8" name="Image 2" descr="/tmp/rf-deck/img/products/ветровка_HT-83-1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55480" y="4315968"/>
            <a:ext cx="1371600" cy="1828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555480" y="5852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ветровка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ИРП обрушил юнит-экономику куртки</a:t>
            </a:r>
            <a:endParaRPr lang="en-US" sz="3000" dirty="0"/>
          </a:p>
        </p:txBody>
      </p:sp>
      <p:pic>
        <p:nvPicPr>
          <p:cNvPr id="4" name="Image 0" descr="/tmp/rf-deck/img/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292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920240"/>
            <a:ext cx="55321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35040" y="1920240"/>
            <a:ext cx="82296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6291072" y="20391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2 338 ₽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291072" y="2597810"/>
            <a:ext cx="51206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на 1 выкупленную куртку (после ИРП)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0" y="3291840"/>
            <a:ext cx="5532120" cy="2377440"/>
          </a:xfrm>
          <a:prstGeom prst="roundRect">
            <a:avLst>
              <a:gd name="adj" fmla="val 2692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3456432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3 790 выкупов — 16 922 доставки + 13 366 возвратов: ~22% доставок становятся выкупом (огромный невыкуп).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логистика уже зашита в эти 2 338 ₽.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куртки: до ИРП +17% → после ИРП ≈0…−12% (убыток после рекламы).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у нас льготная ~2% — убийца не она, а логистика + невыкуп.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 34,5% all-in вместо растущей переменки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· WB-ПЕРЕМЕНКА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+ логистика + хранение + возвраты — плавающие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выросла на ИРП до 52% выручки и растёт дальше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Невыкуп гоняет товар туда-обратно за твой счёт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ноль / убыток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96712" y="3246120"/>
            <a:ext cx="768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28232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0F1E33"/>
          </a:solidFill>
          <a:ln/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48272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34,5% ALL-IN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48272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фикс-ставка = комиссия + логистика + хранение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и хранение зашиты — рост тарифов не твоя боль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Предсказуемая экономика на каждый юнит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маржа 40–52%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MPSTATS только комиссия WB в этих нишах ≈ 34,5%. Значит фикс all-in ≈ голой комиссии — логистику и хранение получаешь «внутри».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Ниши огромные и раздробленные</a:t>
            </a:r>
            <a:endParaRPr lang="en-US" sz="3000" dirty="0"/>
          </a:p>
        </p:txBody>
      </p:sp>
      <p:pic>
        <p:nvPicPr>
          <p:cNvPr id="4" name="Image 0" descr="/tmp/rf-deck/img/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58368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92024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635240" y="1920240"/>
            <a:ext cx="82296" cy="11887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891272" y="203911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21–29%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891272" y="2597810"/>
            <a:ext cx="35204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топ-10 продавцов — монополиста нет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324612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35240" y="3246120"/>
            <a:ext cx="82296" cy="118872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1" name="Text 8"/>
          <p:cNvSpPr/>
          <p:nvPr/>
        </p:nvSpPr>
        <p:spPr>
          <a:xfrm>
            <a:off x="7891272" y="33649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7891272" y="3923690"/>
            <a:ext cx="35204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в нише без продаж — решает исполнение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35240" y="457200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35240" y="457200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2"/>
          <p:cNvSpPr/>
          <p:nvPr/>
        </p:nvSpPr>
        <p:spPr>
          <a:xfrm>
            <a:off x="7891272" y="46908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6–11 дн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7891272" y="5249570"/>
            <a:ext cx="35204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оборачиваемость у лидеров ниши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даёт второй пик в году</a:t>
            </a:r>
            <a:endParaRPr lang="en-US" sz="3000" dirty="0"/>
          </a:p>
        </p:txBody>
      </p:sp>
      <p:pic>
        <p:nvPicPr>
          <p:cNvPr id="4" name="Image 0" descr="/tmp/rf-deck/img/sea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740664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96596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58200" y="1965960"/>
            <a:ext cx="82296" cy="118872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7" name="Text 4"/>
          <p:cNvSpPr/>
          <p:nvPr/>
        </p:nvSpPr>
        <p:spPr>
          <a:xfrm>
            <a:off x="8714232" y="20848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+143%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714232" y="2643530"/>
            <a:ext cx="2697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пуховика в ноябре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458200" y="329184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458200" y="329184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1" name="Text 8"/>
          <p:cNvSpPr/>
          <p:nvPr/>
        </p:nvSpPr>
        <p:spPr>
          <a:xfrm>
            <a:off x="8714232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Весна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714232" y="3969410"/>
            <a:ext cx="2697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курток/ветровок: март–апрель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458200" y="4617720"/>
            <a:ext cx="3108960" cy="1234440"/>
          </a:xfrm>
          <a:prstGeom prst="roundRect">
            <a:avLst>
              <a:gd name="adj" fmla="val 5185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0" y="47548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Зимний пуховик + весенние куртки = две выручки в год на одной инфраструктуре, ровный кэшфлоу.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ЦЕНООБРАЗОВАНИЕ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для клиента (после СПП) — в рынке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94560"/>
                <a:gridCol w="2651760"/>
                <a:gridCol w="2496312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 до СПП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платит (−30%)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Рынок: медиана / 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Позиция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6 500–7 500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4 550–5 250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3 855 / 5 782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11 000–13 500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7 700–9 450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6 147 / 7 388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p75–p90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14 000–17 000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9 800–11 900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9 507 / 12 771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908792" cy="1051560"/>
          </a:xfrm>
          <a:prstGeom prst="roundRect">
            <a:avLst>
              <a:gd name="adj" fmla="val 608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21208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 считается от цены ДО СПП (СПП ~30% финансирует WB). </a:t>
            </a:r>
            <a:pPr indent="0" marL="0">
              <a:buNone/>
            </a:pPr>
            <a:r>
              <a:rPr lang="en-US" sz="135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клиента ты везде в зоне «медиана–p75» — премиум, но мейнстрим, не перецен.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Сделка + репрайс = маржа 40–52%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82296" cy="1783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93392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≈0…−12%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890876"/>
            <a:ext cx="2743200" cy="695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сейчас (после ИРП, цена ~5 000)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767328" y="23317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34340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874520"/>
            <a:ext cx="82296" cy="1783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993392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99432" y="2890876"/>
            <a:ext cx="2743200" cy="695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@12 000 при 34,5% (после ДРР)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7764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1920240"/>
                <a:gridCol w="1188720"/>
                <a:gridCol w="286207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Товар (цена до СПП)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Себест+FF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Грязная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ДРР 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 @7 000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1 100+100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3 385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2 685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 @12 000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1 600+180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4 880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 @15 500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2 350+250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7 552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0080" y="6035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34,5% all-in (логистика и хранение внутри). Маржа ~47–52% грязными по всем категориям.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ОСТАТКИ И ГОТОВНОСТЬ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Большой сток уже на WB — стартуем не с нуля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6309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188720"/>
                <a:gridCol w="155448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Шт на WB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Артикулов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GMV (план до СПП)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Куртки (NV-)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11 403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~137 млн 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Ветровки (HT-)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7 812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~55 млн 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на WB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19 215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~192 млн 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348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Живые данные из API WB (кабинет Retail Family). Себестоимость стока ~25,6 млн ₽. Пуховиков в остатках нет — новая категория.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315200" y="2011680"/>
            <a:ext cx="4251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0" y="201168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8" name="Text 5"/>
          <p:cNvSpPr/>
          <p:nvPr/>
        </p:nvSpPr>
        <p:spPr>
          <a:xfrm>
            <a:off x="7571232" y="213055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7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19 215 шт</a:t>
            </a:r>
            <a:endParaRPr lang="en-US" sz="2670" dirty="0"/>
          </a:p>
        </p:txBody>
      </p:sp>
      <p:sp>
        <p:nvSpPr>
          <p:cNvPr id="9" name="Text 6"/>
          <p:cNvSpPr/>
          <p:nvPr/>
        </p:nvSpPr>
        <p:spPr>
          <a:xfrm>
            <a:off x="7571232" y="2689250"/>
            <a:ext cx="3840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курток+ветровок на WB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315200" y="3337560"/>
            <a:ext cx="4251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0" y="333756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9"/>
          <p:cNvSpPr/>
          <p:nvPr/>
        </p:nvSpPr>
        <p:spPr>
          <a:xfrm>
            <a:off x="7571232" y="345643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~192 млн ₽</a:t>
            </a:r>
            <a:endParaRPr lang="en-US" sz="2540" dirty="0"/>
          </a:p>
        </p:txBody>
      </p:sp>
      <p:sp>
        <p:nvSpPr>
          <p:cNvPr id="13" name="Text 10"/>
          <p:cNvSpPr/>
          <p:nvPr/>
        </p:nvSpPr>
        <p:spPr>
          <a:xfrm>
            <a:off x="7571232" y="4015130"/>
            <a:ext cx="3840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GMV-потенциал стока (план до СПП)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315200" y="4663440"/>
            <a:ext cx="4251960" cy="1325880"/>
          </a:xfrm>
          <a:prstGeom prst="roundRect">
            <a:avLst>
              <a:gd name="adj" fmla="val 4828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43800" y="4800600"/>
            <a:ext cx="3840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Большой сток уже на WB. Деньги инвестора — на условия 34,5% (на весь сток) и докуп пуховиков, а не на старт с нуля.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Прибыль за сезон: 60–102 млн ₽ (2,0–3,4x)</a:t>
            </a:r>
            <a:endParaRPr lang="en-US" sz="3000" dirty="0"/>
          </a:p>
        </p:txBody>
      </p:sp>
      <p:pic>
        <p:nvPicPr>
          <p:cNvPr id="4" name="Image 0" descr="/tmp/rf-deck/img/fore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675120" cy="3520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3949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Пуховики (новый закуп) дают надёжные ~41 млн — окупают запрос даже без репрайса. </a:t>
            </a:r>
            <a:pPr indent="0" marL="0">
              <a:buNone/>
            </a:pPr>
            <a:r>
              <a:rPr lang="en-US" sz="10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Апсайд сверху — от репрайса большого текущего стока (куртка: клиент ~5 950–8 400 после СПП). Выкуп 80%, цены до СПП.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874520"/>
            <a:ext cx="39776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589520" y="187452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8" name="Text 5"/>
          <p:cNvSpPr/>
          <p:nvPr/>
        </p:nvSpPr>
        <p:spPr>
          <a:xfrm>
            <a:off x="7845552" y="199339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60–102 млн</a:t>
            </a:r>
            <a:endParaRPr lang="en-US" sz="2540" dirty="0"/>
          </a:p>
        </p:txBody>
      </p:sp>
      <p:sp>
        <p:nvSpPr>
          <p:cNvPr id="9" name="Text 6"/>
          <p:cNvSpPr/>
          <p:nvPr/>
        </p:nvSpPr>
        <p:spPr>
          <a:xfrm>
            <a:off x="7845552" y="2552090"/>
            <a:ext cx="356616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прибыли за сезон (по репрайсу)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89520" y="3200400"/>
            <a:ext cx="39776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589520" y="320040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2" name="Text 9"/>
          <p:cNvSpPr/>
          <p:nvPr/>
        </p:nvSpPr>
        <p:spPr>
          <a:xfrm>
            <a:off x="7845552" y="331927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2,0–3,4x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845552" y="3877970"/>
            <a:ext cx="356616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 30 млн инвестиций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4526280"/>
            <a:ext cx="39776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89520" y="4526280"/>
            <a:ext cx="82296" cy="11887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6" name="Text 13"/>
          <p:cNvSpPr/>
          <p:nvPr/>
        </p:nvSpPr>
        <p:spPr>
          <a:xfrm>
            <a:off x="7845552" y="464515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+41 млн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7845552" y="5203850"/>
            <a:ext cx="356616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пуховики — уже окупают запрос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КАК ЗАКРЫВАЕМ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может пойти не так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82296" cy="694944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6537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Агрессивный объём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06240" y="186537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146–232 млн в премиум-пуховике = войти в топ-продавцы. Закрываем контентом, рекламой, поэтапным вводом.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51760"/>
            <a:ext cx="82296" cy="69494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68833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Невыкуп / возвраты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06240" y="268833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курток ~22% выкуп по доставкам. Размерные сетки, фото-точность, работа с карточкой.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474720"/>
            <a:ext cx="82296" cy="694944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51129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Репрайс и СПП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06240" y="351129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Апсайд текущего стока зависит от репрайса курток (клиент ~8 400 vs ~5 800) и СПП (финансирует WB). Основа возврата — пуховики по рыночной цене.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297680"/>
            <a:ext cx="82296" cy="694944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3342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без истории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06240" y="433425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категория. Рыночные ориентиры MPSTATS + тестовый ввод до пиковой закупки.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2064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120640"/>
            <a:ext cx="82296" cy="694944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15721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Сезонное окно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206240" y="515721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Пуховик продаётся окт–янв. Заходим до пика, остаток уводим в следующий сезон.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023360"/>
            <a:ext cx="4572000" cy="457200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ИНВЕСТОРУ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Запрос и условия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16294A"/>
          </a:solidFill>
          <a:ln w="19050">
            <a:solidFill>
              <a:srgbClr val="D4A2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млн ₽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млн ₽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индивидуальные условия 34,5% all-in (на весь сток)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млн ₽ 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закуп пуховиков под зимний сезон (~8 500 шт)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ДЛЯ ИНВЕСТОРА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сделки — заполнить: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 прибыли проекта   ____ %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заём под ____ % на ____ мес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доля в компании ____ 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возврата / выхода: ____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есть: </a:t>
            </a:r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19 215 шт на WB (~192 млн ₽ GMV-потенциал) — стартуем не с нуля. Прогноз прибыли за сезон </a:t>
            </a:r>
            <a:pPr indent="0" marL="0">
              <a:buNone/>
            </a:pPr>
            <a:r>
              <a:rPr lang="en-US" sz="15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~60–102 млн ₽ (2,0–3,4x на 30 млн).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NORVIA · июнь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Family — инвестиционное предложение</dc:title>
  <dc:subject>PptxGenJS Presentation</dc:subject>
  <dc:creator>Retail Family</dc:creator>
  <cp:lastModifiedBy>Retail Family</cp:lastModifiedBy>
  <cp:revision>1</cp:revision>
  <dcterms:created xsi:type="dcterms:W3CDTF">2026-06-18T19:29:20Z</dcterms:created>
  <dcterms:modified xsi:type="dcterms:W3CDTF">2026-06-18T19:29:20Z</dcterms:modified>
</cp:coreProperties>
</file>