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206240" cy="420624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ИНВЕСТИЦИОННОЕ ПРЕДЛОЖЕНИЕ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FAMILY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Верхняя одежда на Wildberries · бренд NORVIA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2194560" cy="1143000"/>
          </a:xfrm>
          <a:prstGeom prst="roundRect">
            <a:avLst>
              <a:gd name="adj" fmla="val 5600"/>
            </a:avLst>
          </a:prstGeom>
          <a:solidFill>
            <a:srgbClr val="16294A"/>
          </a:solidFill>
          <a:ln w="16510">
            <a:solidFill>
              <a:srgbClr val="D4A2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2186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30,8 млн ₽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41248" y="37307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 за 5 мес (факт)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17520" y="3108960"/>
            <a:ext cx="2194560" cy="1143000"/>
          </a:xfrm>
          <a:prstGeom prst="roundRect">
            <a:avLst>
              <a:gd name="adj" fmla="val 5600"/>
            </a:avLst>
          </a:prstGeom>
          <a:solidFill>
            <a:srgbClr val="16294A"/>
          </a:solidFill>
          <a:ln w="16510">
            <a:solidFill>
              <a:srgbClr val="D4A2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18688" y="32186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19 215 шт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218688" y="37307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на WB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94960" y="3108960"/>
            <a:ext cx="2194560" cy="1143000"/>
          </a:xfrm>
          <a:prstGeom prst="roundRect">
            <a:avLst>
              <a:gd name="adj" fmla="val 5600"/>
            </a:avLst>
          </a:prstGeom>
          <a:solidFill>
            <a:srgbClr val="16294A"/>
          </a:solidFill>
          <a:ln w="16510">
            <a:solidFill>
              <a:srgbClr val="1E84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96128" y="32186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596128" y="37307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собственных вложений команды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617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</a:t>
            </a:r>
            <a:pPr indent="0" marL="0">
              <a:buNone/>
            </a:pPr>
            <a:r>
              <a:rPr lang="en-US" sz="1300" i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[опыт на WB, роли — заполнить]. Уже построенный бренд, отлаженная закупка и логистика.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Конфиденциально · данные кабинета WB и MPSTATS · июнь 2026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188720"/>
            <a:ext cx="1783080" cy="2350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8" name="Image 0" descr="/tmp/rf-deck/img/products/куртка_NV-836-3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83880" y="1234440"/>
            <a:ext cx="1691640" cy="225856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9994392" y="1188720"/>
            <a:ext cx="1783080" cy="2350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20" name="Image 1" descr="/tmp/rf-deck/img/products/ветровка_HT-80-1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40112" y="1234440"/>
            <a:ext cx="1691640" cy="22585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183880" y="361188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куртки · ветровки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СДЕЛАНО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Уже продаём: 30,8 млн ₽ за 5 месяцев</a:t>
            </a:r>
            <a:endParaRPr lang="en-US" sz="3000" dirty="0"/>
          </a:p>
        </p:txBody>
      </p:sp>
      <p:pic>
        <p:nvPicPr>
          <p:cNvPr id="4" name="Image 0" descr="/tmp/rf-deck/img/s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126480" cy="3337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25780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Сезонная связка: куртки выстрелили в марте, ветровки подхватили апрель–май.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086600" y="1828800"/>
            <a:ext cx="457200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86600" y="1828800"/>
            <a:ext cx="82296" cy="1024128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8" name="Text 5"/>
          <p:cNvSpPr/>
          <p:nvPr/>
        </p:nvSpPr>
        <p:spPr>
          <a:xfrm>
            <a:off x="7342632" y="194767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19 215 шт</a:t>
            </a:r>
            <a:endParaRPr lang="en-US" sz="2580" dirty="0"/>
          </a:p>
        </p:txBody>
      </p:sp>
      <p:sp>
        <p:nvSpPr>
          <p:cNvPr id="9" name="Text 6"/>
          <p:cNvSpPr/>
          <p:nvPr/>
        </p:nvSpPr>
        <p:spPr>
          <a:xfrm>
            <a:off x="7342632" y="2412553"/>
            <a:ext cx="4160520" cy="39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сток на WB (~192 млн GMV)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086600" y="2962656"/>
            <a:ext cx="457200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86600" y="2962656"/>
            <a:ext cx="82296" cy="102412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9"/>
          <p:cNvSpPr/>
          <p:nvPr/>
        </p:nvSpPr>
        <p:spPr>
          <a:xfrm>
            <a:off x="7342632" y="3081528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342632" y="3546409"/>
            <a:ext cx="4160520" cy="39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собственных вложений уже в проекте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0" y="4114800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5" name="Image 1" descr="/tmp/rf-deck/img/products/куртка_NV-01-3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160520"/>
            <a:ext cx="13716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5696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509760" y="4114800"/>
            <a:ext cx="14630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pic>
        <p:nvPicPr>
          <p:cNvPr id="18" name="Image 2" descr="/tmp/rf-deck/img/products/ветровка_HT-83-1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55480" y="4160520"/>
            <a:ext cx="1371600" cy="1828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555480" y="5696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ветровка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ИРП логистика убила маржу куртки</a:t>
            </a:r>
            <a:endParaRPr lang="en-US" sz="3000" dirty="0"/>
          </a:p>
        </p:txBody>
      </p:sp>
      <p:pic>
        <p:nvPicPr>
          <p:cNvPr id="4" name="Image 0" descr="/tmp/rf-deck/img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292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920240"/>
            <a:ext cx="55321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35040" y="1920240"/>
            <a:ext cx="82296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291072" y="20391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2 338 ₽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291072" y="2597810"/>
            <a:ext cx="512064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на 1 выкупленную куртку (после ИРП)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0" y="3291840"/>
            <a:ext cx="5532120" cy="2377440"/>
          </a:xfrm>
          <a:prstGeom prst="roundRect">
            <a:avLst>
              <a:gd name="adj" fmla="val 2692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493008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выросла с 28% до 52% выручки — куртка ушла в ноль/минус.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~22% доставок становятся выкупом — остальное едет туда-обратно за наш счёт.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системно — на старых условиях масштабироваться нельзя.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дают новые условия 34,5% all-in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· КУРТКА (после ИРП)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434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2 338 ₽ (52% выручки), плавающая и растёт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комиссия, хранение, возвраты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ноль / убыток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96712" y="2971800"/>
            <a:ext cx="768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28232" y="1828800"/>
            <a:ext cx="5074920" cy="3200400"/>
          </a:xfrm>
          <a:prstGeom prst="roundRect">
            <a:avLst>
              <a:gd name="adj" fmla="val 2286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48272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34,5% ALL-IN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48272" y="2651760"/>
            <a:ext cx="4434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фикс-ставка = комиссия + логистика + хранение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тарифов и невыкуп — больше не наша боль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маржа 40–52% по всем категориям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2578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257800"/>
            <a:ext cx="82296" cy="10515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5376672"/>
            <a:ext cx="30632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≈0 → 41%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96112" y="5857189"/>
            <a:ext cx="3017520" cy="410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@12 000: маржа после ДРР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5257800"/>
            <a:ext cx="34290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0" y="5257800"/>
            <a:ext cx="82296" cy="10515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5376672"/>
            <a:ext cx="30632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4553712" y="5857189"/>
            <a:ext cx="3017520" cy="410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маржа юнита при сделке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5257800"/>
            <a:ext cx="3593592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0" y="5257800"/>
            <a:ext cx="82296" cy="105156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11312" y="5376672"/>
            <a:ext cx="32278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34,5%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211312" y="5857189"/>
            <a:ext cx="3182112" cy="410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голой комиссии WB в нише (MPSTATS)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СРЕДСТВ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Куда идут 30 млн ₽</a:t>
            </a:r>
            <a:endParaRPr lang="en-US" sz="3000" dirty="0"/>
          </a:p>
        </p:txBody>
      </p:sp>
      <p:pic>
        <p:nvPicPr>
          <p:cNvPr id="4" name="Image 0" descr="/tmp/rf-deck/img/usefu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6949440" cy="2057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297680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4297680"/>
            <a:ext cx="82296" cy="603504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3251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млн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651760" y="4325112"/>
            <a:ext cx="8622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условия 34,5% all-in — действуют на ВЕСЬ сток (19 215 шт), не только на новый.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5010912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5010912"/>
            <a:ext cx="82296" cy="603504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0383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млн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1760" y="5038344"/>
            <a:ext cx="8622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Предоплата производителям — фиксируем цены и сроки пошива пуховиков под сезон.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5724144"/>
            <a:ext cx="82296" cy="60350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5751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млн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651760" y="5751576"/>
            <a:ext cx="8622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Закупка товара — пуховики под зимний пик (~8 500 шт по рыночной цене).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ЗАЩИТА ИНВЕСТОРА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будет, если всё пойдёт не по плану</a:t>
            </a:r>
            <a:endParaRPr lang="en-US" sz="3000" dirty="0"/>
          </a:p>
        </p:txBody>
      </p:sp>
      <p:pic>
        <p:nvPicPr>
          <p:cNvPr id="4" name="Image 0" descr="/tmp/rf-deck/img/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4008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874520"/>
            <a:ext cx="4251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0" y="187452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Text 4"/>
          <p:cNvSpPr/>
          <p:nvPr/>
        </p:nvSpPr>
        <p:spPr>
          <a:xfrm>
            <a:off x="7571232" y="199339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Залог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7571232" y="2552090"/>
            <a:ext cx="384048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товарный остаток обеспечивает заём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315200" y="3200400"/>
            <a:ext cx="4251960" cy="2743200"/>
          </a:xfrm>
          <a:prstGeom prst="roundRect">
            <a:avLst>
              <a:gd name="adj" fmla="val 2333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71232" y="3383280"/>
            <a:ext cx="3794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сделки
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Товарный остаток на WB: себестоимость ~25,6 млн ₽, рыночная стоимость до ~190 млн ₽ — он ликвиден, спрос сезонный.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Катастрофический сценарий: </a:t>
            </a:r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часть не продали в сезон — товар не сгорает, реализуется в следующем сезоне. Тело займа возвращается за счёт существующего стока.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023360" cy="402336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СДЕЛКИ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получает инвестор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20824"/>
            <a:ext cx="64008" cy="493776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965960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млн ₽ на 6 месяцев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42616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0" y="2642616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в месяц → инвестор получает ~40,8 млн ₽ (тело 30 + проценты 10,8)   • предлагаемые условия, к согласованию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374136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19272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0" y="3319272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товарный остаток на WB ~25,6 млн ₽ себест. (рыночная до ~190 млн)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50792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995928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ВЛОЖЕНИЯ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3995928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уже вложила 37 млн ₽ в проект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727448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672584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ПРИБЫЛИ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57600" y="4672584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60–102 млн ₽ за сезон (база ~79 млн)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404104"/>
            <a:ext cx="64008" cy="493776"/>
          </a:xfrm>
          <a:prstGeom prst="rect">
            <a:avLst/>
          </a:prstGeom>
          <a:solidFill>
            <a:srgbClr val="3A4D6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49240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ФОРС-МАЖОР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5349240"/>
            <a:ext cx="8074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тела за счёт реализации существующего стока — товар ликвиден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NORVIA · июнь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РЫНОК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Ниши большие и растут в сезон</a:t>
            </a:r>
            <a:endParaRPr lang="en-US" sz="3000" dirty="0"/>
          </a:p>
        </p:txBody>
      </p:sp>
      <p:pic>
        <p:nvPicPr>
          <p:cNvPr id="4" name="Image 0" descr="/tmp/rf-deck/img/sea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5836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920240"/>
            <a:ext cx="40690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498080" y="1920240"/>
            <a:ext cx="82296" cy="114300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754112" y="2039112"/>
            <a:ext cx="3703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6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млрд ₽</a:t>
            </a:r>
            <a:endParaRPr lang="en-US" sz="2460" dirty="0"/>
          </a:p>
        </p:txBody>
      </p:sp>
      <p:sp>
        <p:nvSpPr>
          <p:cNvPr id="8" name="Text 5"/>
          <p:cNvSpPr/>
          <p:nvPr/>
        </p:nvSpPr>
        <p:spPr>
          <a:xfrm>
            <a:off x="7754112" y="2571750"/>
            <a:ext cx="3657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курток+пуховиков+ветровок (WB, год)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3200400"/>
            <a:ext cx="40690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0" y="3200400"/>
            <a:ext cx="82296" cy="114300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11" name="Text 8"/>
          <p:cNvSpPr/>
          <p:nvPr/>
        </p:nvSpPr>
        <p:spPr>
          <a:xfrm>
            <a:off x="7754112" y="3319272"/>
            <a:ext cx="3703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2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Ноябрь +143%</a:t>
            </a:r>
            <a:endParaRPr lang="en-US" sz="2220" dirty="0"/>
          </a:p>
        </p:txBody>
      </p:sp>
      <p:sp>
        <p:nvSpPr>
          <p:cNvPr id="12" name="Text 9"/>
          <p:cNvSpPr/>
          <p:nvPr/>
        </p:nvSpPr>
        <p:spPr>
          <a:xfrm>
            <a:off x="7754112" y="3851910"/>
            <a:ext cx="3657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пуховика — зимний сезон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4480560"/>
            <a:ext cx="40690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98080" y="4480560"/>
            <a:ext cx="82296" cy="114300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5" name="Text 12"/>
          <p:cNvSpPr/>
          <p:nvPr/>
        </p:nvSpPr>
        <p:spPr>
          <a:xfrm>
            <a:off x="7754112" y="4599432"/>
            <a:ext cx="3703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2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Март +57–86%</a:t>
            </a:r>
            <a:endParaRPr lang="en-US" sz="2220" dirty="0"/>
          </a:p>
        </p:txBody>
      </p:sp>
      <p:sp>
        <p:nvSpPr>
          <p:cNvPr id="16" name="Text 13"/>
          <p:cNvSpPr/>
          <p:nvPr/>
        </p:nvSpPr>
        <p:spPr>
          <a:xfrm>
            <a:off x="7754112" y="5132070"/>
            <a:ext cx="36576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курток/ветровок — весна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· ПОДТВЕРЖДЕНИЕ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Подтверждение цифр — скриншоты кабинета WB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24460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вставить скриншот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8117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(воронка / отчёт)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874520"/>
            <a:ext cx="5257800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172200" y="24460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вставить скриншот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72200" y="28117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Остатки на складах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257800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40080" y="45491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вставить скриншот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91490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Финансовый отчёт / выручка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977640"/>
            <a:ext cx="5257800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72200" y="45491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вставить скриншот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91490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Рекламный кабинет (ДРР)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Family — инвестиционное предложение</dc:title>
  <dc:subject>PptxGenJS Presentation</dc:subject>
  <dc:creator>Retail Family</dc:creator>
  <cp:lastModifiedBy>Retail Family</cp:lastModifiedBy>
  <cp:revision>1</cp:revision>
  <dcterms:created xsi:type="dcterms:W3CDTF">2026-06-19T09:06:38Z</dcterms:created>
  <dcterms:modified xsi:type="dcterms:W3CDTF">2026-06-19T09:06:38Z</dcterms:modified>
</cp:coreProperties>
</file>