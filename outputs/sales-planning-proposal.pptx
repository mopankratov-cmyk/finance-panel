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a5a3feaef654d3c" /><Relationship Type="http://schemas.openxmlformats.org/officeDocument/2006/relationships/extended-properties" Target="/docProps/app.xml" Id="R7293de0f40c74f4a" /><Relationship Type="http://schemas.openxmlformats.org/officeDocument/2006/relationships/officeDocument" Target="/ppt/presentation.xml" Id="R071c2375a607441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3029549a8bb4b96"/>
  </p:sldMasterIdLst>
  <p:notesMasterIdLst>
    <p:notesMasterId xmlns:r="http://schemas.openxmlformats.org/officeDocument/2006/relationships" r:id="R6be7c8dd55d343b0"/>
  </p:notesMasterIdLst>
  <p:sldIdLst>
    <p:sldId xmlns:r="http://schemas.openxmlformats.org/officeDocument/2006/relationships" id="256" r:id="R70c43336f34b4bcb"/>
    <p:sldId xmlns:r="http://schemas.openxmlformats.org/officeDocument/2006/relationships" id="257" r:id="R4d7382cb4cfc4188"/>
    <p:sldId xmlns:r="http://schemas.openxmlformats.org/officeDocument/2006/relationships" id="258" r:id="R50ed8af4fb9c46e1"/>
    <p:sldId xmlns:r="http://schemas.openxmlformats.org/officeDocument/2006/relationships" id="259" r:id="R1783989467be4d8d"/>
    <p:sldId xmlns:r="http://schemas.openxmlformats.org/officeDocument/2006/relationships" id="260" r:id="Ra2d2522f63e4462d"/>
    <p:sldId xmlns:r="http://schemas.openxmlformats.org/officeDocument/2006/relationships" id="261" r:id="Rc1f4ede101664ebb"/>
    <p:sldId xmlns:r="http://schemas.openxmlformats.org/officeDocument/2006/relationships" id="262" r:id="R6ce46ca43cc34c15"/>
    <p:sldId xmlns:r="http://schemas.openxmlformats.org/officeDocument/2006/relationships" id="263" r:id="R077a2e41a15a4f56"/>
    <p:sldId xmlns:r="http://schemas.openxmlformats.org/officeDocument/2006/relationships" id="264" r:id="R410adfd89029492f"/>
    <p:sldId xmlns:r="http://schemas.openxmlformats.org/officeDocument/2006/relationships" id="265" r:id="R01910119e4d34f64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bf09f2c87424bae" /><Relationship Type="http://schemas.openxmlformats.org/officeDocument/2006/relationships/slideMaster" Target="/ppt/slideMasters/slideMaster1.xml" Id="R33029549a8bb4b96" /><Relationship Type="http://schemas.openxmlformats.org/officeDocument/2006/relationships/notesMaster" Target="/ppt/notesMasters/notesMaster1.xml" Id="R6be7c8dd55d343b0" /><Relationship Type="http://schemas.openxmlformats.org/officeDocument/2006/relationships/presProps" Target="/ppt/presProps.xml" Id="Rf492de86b0274c1d" /><Relationship Type="http://schemas.openxmlformats.org/officeDocument/2006/relationships/tableStyles" Target="/ppt/tableStyles.xml" Id="Rf65cfd92416e4c41" /><Relationship Type="http://schemas.openxmlformats.org/officeDocument/2006/relationships/slide" Target="/ppt/slides/slide1.xml" Id="R70c43336f34b4bcb" /><Relationship Type="http://schemas.openxmlformats.org/officeDocument/2006/relationships/slide" Target="/ppt/slides/slide2.xml" Id="R4d7382cb4cfc4188" /><Relationship Type="http://schemas.openxmlformats.org/officeDocument/2006/relationships/slide" Target="/ppt/slides/slide3.xml" Id="R50ed8af4fb9c46e1" /><Relationship Type="http://schemas.openxmlformats.org/officeDocument/2006/relationships/slide" Target="/ppt/slides/slide4.xml" Id="R1783989467be4d8d" /><Relationship Type="http://schemas.openxmlformats.org/officeDocument/2006/relationships/slide" Target="/ppt/slides/slide5.xml" Id="Ra2d2522f63e4462d" /><Relationship Type="http://schemas.openxmlformats.org/officeDocument/2006/relationships/slide" Target="/ppt/slides/slide6.xml" Id="Rc1f4ede101664ebb" /><Relationship Type="http://schemas.openxmlformats.org/officeDocument/2006/relationships/slide" Target="/ppt/slides/slide7.xml" Id="R6ce46ca43cc34c15" /><Relationship Type="http://schemas.openxmlformats.org/officeDocument/2006/relationships/slide" Target="/ppt/slides/slide8.xml" Id="R077a2e41a15a4f56" /><Relationship Type="http://schemas.openxmlformats.org/officeDocument/2006/relationships/slide" Target="/ppt/slides/slide9.xml" Id="R410adfd89029492f" /><Relationship Type="http://schemas.openxmlformats.org/officeDocument/2006/relationships/slide" Target="/ppt/slides/slide10.xml" Id="R01910119e4d34f6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f341dc87ef04f5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3e5933da6ba421f" /><Relationship Type="http://schemas.openxmlformats.org/officeDocument/2006/relationships/notesMaster" Target="/ppt/notesMasters/notesMaster1.xml" Id="Rcfb976b0f43b4d3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e2d1f6a8c7a433f" /><Relationship Type="http://schemas.openxmlformats.org/officeDocument/2006/relationships/notesMaster" Target="/ppt/notesMasters/notesMaster1.xml" Id="R45c28fcb4e044c5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b59c09df1b042d1" /><Relationship Type="http://schemas.openxmlformats.org/officeDocument/2006/relationships/notesMaster" Target="/ppt/notesMasters/notesMaster1.xml" Id="R392b12cf6d6c40f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6eface161154612" /><Relationship Type="http://schemas.openxmlformats.org/officeDocument/2006/relationships/notesMaster" Target="/ppt/notesMasters/notesMaster1.xml" Id="R2a29858f37bf44b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1984cddb9b448c6" /><Relationship Type="http://schemas.openxmlformats.org/officeDocument/2006/relationships/notesMaster" Target="/ppt/notesMasters/notesMaster1.xml" Id="Rf7ad65ab72944a6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0173869df9b4f58" /><Relationship Type="http://schemas.openxmlformats.org/officeDocument/2006/relationships/notesMaster" Target="/ppt/notesMasters/notesMaster1.xml" Id="Ra219a814a47548b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b82de9410c846b8" /><Relationship Type="http://schemas.openxmlformats.org/officeDocument/2006/relationships/notesMaster" Target="/ppt/notesMasters/notesMaster1.xml" Id="R6f99de8d69dc4f8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bdc122a5d774c8e" /><Relationship Type="http://schemas.openxmlformats.org/officeDocument/2006/relationships/notesMaster" Target="/ppt/notesMasters/notesMaster1.xml" Id="R2e477de96d03450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badb4a2250d40da" /><Relationship Type="http://schemas.openxmlformats.org/officeDocument/2006/relationships/notesMaster" Target="/ppt/notesMasters/notesMaster1.xml" Id="Rd8387eba9ee24e7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14c62a07d434ac2" /><Relationship Type="http://schemas.openxmlformats.org/officeDocument/2006/relationships/notesMaster" Target="/ppt/notesMasters/notesMaster1.xml" Id="R086ad6b87bb34e0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d1d798a092544f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6386c96479d47fd" /><Relationship Type="http://schemas.openxmlformats.org/officeDocument/2006/relationships/slideLayout" Target="/ppt/slideLayouts/slideLayout1.xml" Id="Ra935256a2613454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935256a2613454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7fb7d9f85945b1" /><Relationship Type="http://schemas.openxmlformats.org/officeDocument/2006/relationships/notesSlide" Target="/ppt/notesSlides/notesSlide1.xml" Id="Ra45e0be196ca486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e427a028dd4dbd" /><Relationship Type="http://schemas.openxmlformats.org/officeDocument/2006/relationships/notesSlide" Target="/ppt/notesSlides/notesSlide2.xml" Id="R57bbca20173a417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2e21e6745f4e23" /><Relationship Type="http://schemas.openxmlformats.org/officeDocument/2006/relationships/chart" Target="/ppt/slides/charts/chart1.xml" Id="Rfe7daf2740fb4570" /><Relationship Type="http://schemas.openxmlformats.org/officeDocument/2006/relationships/notesSlide" Target="/ppt/notesSlides/notesSlide3.xml" Id="R360168e2f66d457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4218d2a3184e1e" /><Relationship Type="http://schemas.openxmlformats.org/officeDocument/2006/relationships/notesSlide" Target="/ppt/notesSlides/notesSlide4.xml" Id="R9dcf150d6e5a43c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8d61eabf45446e" /><Relationship Type="http://schemas.openxmlformats.org/officeDocument/2006/relationships/notesSlide" Target="/ppt/notesSlides/notesSlide5.xml" Id="Re9ad372dbbaf477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2e595dd2494cfd" /><Relationship Type="http://schemas.openxmlformats.org/officeDocument/2006/relationships/notesSlide" Target="/ppt/notesSlides/notesSlide6.xml" Id="R4cf1834ba0174ab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54b1ce4fc64dda" /><Relationship Type="http://schemas.openxmlformats.org/officeDocument/2006/relationships/notesSlide" Target="/ppt/notesSlides/notesSlide7.xml" Id="R63f50a693fe34b3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18a327c16243ce" /><Relationship Type="http://schemas.openxmlformats.org/officeDocument/2006/relationships/notesSlide" Target="/ppt/notesSlides/notesSlide8.xml" Id="Rf7623b0bef754b0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3656357f2d403b" /><Relationship Type="http://schemas.openxmlformats.org/officeDocument/2006/relationships/notesSlide" Target="/ppt/notesSlides/notesSlide9.xml" Id="Rfd60eed4da9e469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cdf0e78f324d50" /><Relationship Type="http://schemas.openxmlformats.org/officeDocument/2006/relationships/notesSlide" Target="/ppt/notesSlides/notesSlide10.xml" Id="R4ecd893d39844d82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Выручка, млн ₽</c:v>
          </c:tx>
          <c:spPr>
            <a:solidFill xmlns:a="http://schemas.openxmlformats.org/drawingml/2006/main">
              <a:srgbClr val="17BF50"/>
            </a:solidFill>
          </c:spPr>
          <c:cat>
            <c:strLit>
              <c:ptCount val="3"/>
              <c:pt idx="0">
                <c:v>Ветровки</c:v>
              </c:pt>
              <c:pt idx="1">
                <c:v>Демисезон</c:v>
              </c:pt>
              <c:pt idx="2">
                <c:v>Зима</c:v>
              </c:pt>
            </c:strLit>
          </c:cat>
          <c:val>
            <c:numLit>
              <c:formatCode>General</c:formatCode>
              <c:ptCount val="3"/>
              <c:pt idx="0">
                <c:v>50.784</c:v>
              </c:pt>
              <c:pt idx="1">
                <c:v>299.862</c:v>
              </c:pt>
              <c:pt idx="2">
                <c:v>254.116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9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3D2D2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171B20"/>
                </a:solidFill>
                <a:latin typeface="Manrope"/>
                <a:ea typeface="Manrope"/>
                <a:cs typeface="Manrope"/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BE0E4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76F79"/>
                </a:solidFill>
                <a:latin typeface="Manrope"/>
                <a:ea typeface="Manrope"/>
                <a:cs typeface="Manrope"/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</c:spPr>
    </c:plotArea>
    <c:plotVisOnly val="1"/>
  </c:chart>
  <c:spPr>
    <a:solidFill xmlns:a="http://schemas.openxmlformats.org/drawingml/2006/main">
      <a:srgbClr val="FFFFFF"/>
    </a:solidFill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98892AE-10B0-4739-81B5-5BBF578E3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910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76F79"/>
                </a:solidFill>
                <a:latin typeface="Manrope"/>
                <a:ea typeface="Manrope"/>
                <a:cs typeface="Manrope"/>
              </a:defRPr>
            </a:pPr>
            <a:r>
              <a:rPr sz="1950" b="0">
                <a:solidFill>
                  <a:srgbClr val="676F79"/>
                </a:solidFill>
                <a:latin typeface="Manrope"/>
                <a:ea typeface="Manrope"/>
                <a:cs typeface="Manrope"/>
              </a:rPr>
              <a:t>Финансовая панель · WB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82B6F4-2322-423D-A877-3B6A5BEBA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62125"/>
            <a:ext cx="9525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171B20"/>
                </a:solidFill>
                <a:latin typeface="Manrope"/>
                <a:ea typeface="Manrope"/>
                <a:cs typeface="Manrope"/>
              </a:defRPr>
            </a:pPr>
            <a:r>
              <a:rPr sz="5100" b="1">
                <a:solidFill>
                  <a:srgbClr val="171B20"/>
                </a:solidFill>
                <a:latin typeface="Manrope"/>
                <a:ea typeface="Manrope"/>
                <a:cs typeface="Manrope"/>
              </a:rPr>
              <a:t>Планирование продаж должно стать частью панели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467968-6C2F-4CC6-AB4F-D3880469B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05375"/>
            <a:ext cx="7810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1B20"/>
                </a:solidFill>
                <a:latin typeface="Manrope"/>
                <a:ea typeface="Manrope"/>
                <a:cs typeface="Manrope"/>
              </a:defRPr>
            </a:pPr>
            <a:r>
              <a:rPr sz="1875" b="0">
                <a:solidFill>
                  <a:srgbClr val="171B20"/>
                </a:solidFill>
                <a:latin typeface="Manrope"/>
                <a:ea typeface="Manrope"/>
                <a:cs typeface="Manrope"/>
              </a:rPr>
              <a:t>Предложение: перенести ручные планы Q3–Q4 в модуль прогноза, закупки и план-факта без потери контроля команды.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D693EB-F0DA-4460-9187-407B94303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055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76F79"/>
                </a:solidFill>
                <a:latin typeface="Manrope"/>
                <a:ea typeface="Manrope"/>
                <a:cs typeface="Manrope"/>
              </a:defRPr>
            </a:pPr>
            <a:r>
              <a:rPr sz="863" b="0">
                <a:solidFill>
                  <a:srgbClr val="676F79"/>
                </a:solidFill>
                <a:latin typeface="Manrope"/>
                <a:ea typeface="Manrope"/>
                <a:cs typeface="Manrope"/>
              </a:rPr>
              <a:t>Подготовлено для согласования подхода с командой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F69148-37DC-4D4B-B658-DDFD75DBA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0555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76F79"/>
                </a:solidFill>
                <a:latin typeface="Manrope"/>
                <a:ea typeface="Manrope"/>
                <a:cs typeface="Manrope"/>
              </a:defRPr>
            </a:pPr>
            <a:r>
              <a:rPr sz="975" b="0">
                <a:solidFill>
                  <a:srgbClr val="676F79"/>
                </a:solidFill>
                <a:latin typeface="Manrope"/>
                <a:ea typeface="Manrope"/>
                <a:cs typeface="Manrope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46692883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0E31B65-FD53-4F80-BE44-D066B0492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111633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3" b="1">
                <a:solidFill>
                  <a:srgbClr val="171B20"/>
                </a:solidFill>
                <a:latin typeface="Manrope"/>
                <a:ea typeface="Manrope"/>
                <a:cs typeface="Manrope"/>
              </a:defRPr>
            </a:pPr>
            <a:r>
              <a:rPr sz="2903" b="1">
                <a:solidFill>
                  <a:srgbClr val="171B20"/>
                </a:solidFill>
                <a:latin typeface="Manrope"/>
                <a:ea typeface="Manrope"/>
                <a:cs typeface="Manrope"/>
              </a:rPr>
              <a:t>В таблицах уже есть правильная логика продукта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5A0842-2F77-4544-B8E8-0B0434F54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38250"/>
            <a:ext cx="1057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1B20"/>
                </a:solidFill>
                <a:latin typeface="Manrope"/>
                <a:ea typeface="Manrope"/>
                <a:cs typeface="Manrope"/>
              </a:defRPr>
            </a:pPr>
            <a:r>
              <a:rPr sz="1650" b="0">
                <a:solidFill>
                  <a:srgbClr val="171B20"/>
                </a:solidFill>
                <a:latin typeface="Manrope"/>
                <a:ea typeface="Manrope"/>
                <a:cs typeface="Manrope"/>
              </a:rPr>
              <a:t>Текущий Excel/Google Sheets план полезен не форматом, а сущностями: SKU, день, выкуп, остаток, партия закупки. Их нужно сохранить, но перестать пересобирать вручную.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32240A-38CB-4A7A-ADD8-F5DE9E3C1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19375"/>
            <a:ext cx="2662238" cy="180975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9FAFB"/>
          </a:solidFill>
          <a:ln xmlns:a="http://schemas.openxmlformats.org/drawingml/2006/main" w="9525">
            <a:solidFill>
              <a:srgbClr val="DBE0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D7850D-E83C-4C9C-A27B-8CE1124C5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09875"/>
            <a:ext cx="2319338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1B20"/>
                </a:solidFill>
                <a:latin typeface="Manrope"/>
                <a:ea typeface="Manrope"/>
                <a:cs typeface="Manrope"/>
              </a:defRPr>
            </a:pPr>
            <a:r>
              <a:rPr sz="1500" b="1">
                <a:solidFill>
                  <a:srgbClr val="171B20"/>
                </a:solidFill>
                <a:latin typeface="Manrope"/>
                <a:ea typeface="Manrope"/>
                <a:cs typeface="Manrope"/>
              </a:rPr>
              <a:t>SKU × день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4D021F-DBB7-40CB-9534-8789DCBF8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67075"/>
            <a:ext cx="2319338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676F79"/>
                </a:solidFill>
                <a:latin typeface="Manrope"/>
                <a:ea typeface="Manrope"/>
                <a:cs typeface="Manrope"/>
              </a:defRPr>
            </a:pPr>
            <a:r>
              <a:rPr sz="1163" b="0">
                <a:solidFill>
                  <a:srgbClr val="676F79"/>
                </a:solidFill>
                <a:latin typeface="Manrope"/>
                <a:ea typeface="Manrope"/>
                <a:cs typeface="Manrope"/>
              </a:rPr>
              <a:t>Ручной план заказов по каждому артикулу, цвету и месяцу.</a:t>
            </a:r>
          </a:p>
        </p:txBody>
      </p:sp>
      <p:cxnSp>
        <p:nvCxnSpPr>
          <p:cNvPr id="27" name=""/>
          <p:cNvCxnSpPr/>
          <p:nvPr/>
        </p:nvCxnSpPr>
        <p:spPr>
          <a:xfrm xmlns:a="http://schemas.openxmlformats.org/drawingml/2006/main">
            <a:off x="3205163" y="3524250"/>
            <a:ext cx="114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BF50"/>
            </a:solidFill>
            <a:prstDash val="solid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1911B5-53AE-4A7E-8786-04EC07F16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8038" y="2619375"/>
            <a:ext cx="2662238" cy="180975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9FAFB"/>
          </a:solidFill>
          <a:ln xmlns:a="http://schemas.openxmlformats.org/drawingml/2006/main" w="9525">
            <a:solidFill>
              <a:srgbClr val="DBE0E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82337C-AA45-4E83-ACCC-B5FBBEF80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9488" y="2809875"/>
            <a:ext cx="2319338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1B20"/>
                </a:solidFill>
                <a:latin typeface="Manrope"/>
                <a:ea typeface="Manrope"/>
                <a:cs typeface="Manrope"/>
              </a:defRPr>
            </a:pPr>
            <a:r>
              <a:rPr sz="1500" b="1">
                <a:solidFill>
                  <a:srgbClr val="171B20"/>
                </a:solidFill>
                <a:latin typeface="Manrope"/>
                <a:ea typeface="Manrope"/>
                <a:cs typeface="Manrope"/>
              </a:rPr>
              <a:t>% выкупа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47C1DA-BB95-45D0-9B66-326C6B5D1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9488" y="3267075"/>
            <a:ext cx="2319338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676F79"/>
                </a:solidFill>
                <a:latin typeface="Manrope"/>
                <a:ea typeface="Manrope"/>
                <a:cs typeface="Manrope"/>
              </a:defRPr>
            </a:pPr>
            <a:r>
              <a:rPr sz="1163" b="0">
                <a:solidFill>
                  <a:srgbClr val="676F79"/>
                </a:solidFill>
                <a:latin typeface="Manrope"/>
                <a:ea typeface="Manrope"/>
                <a:cs typeface="Manrope"/>
              </a:rPr>
              <a:t>Выручка считается отдельно от заказов, а не смешивается в один показатель.</a:t>
            </a:r>
          </a:p>
        </p:txBody>
      </p:sp>
      <p:cxnSp>
        <p:nvCxnSpPr>
          <p:cNvPr id="31" name=""/>
          <p:cNvCxnSpPr/>
          <p:nvPr/>
        </p:nvCxnSpPr>
        <p:spPr>
          <a:xfrm xmlns:a="http://schemas.openxmlformats.org/drawingml/2006/main">
            <a:off x="6038850" y="3524250"/>
            <a:ext cx="114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BF50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7578A5-9547-4308-A3DD-5BBB7F99B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2619375"/>
            <a:ext cx="2662238" cy="180975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9FAFB"/>
          </a:solidFill>
          <a:ln xmlns:a="http://schemas.openxmlformats.org/drawingml/2006/main" w="9525">
            <a:solidFill>
              <a:srgbClr val="DBE0E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DE774F-6835-41BC-B3B3-88D57306F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809875"/>
            <a:ext cx="2319338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1B20"/>
                </a:solidFill>
                <a:latin typeface="Manrope"/>
                <a:ea typeface="Manrope"/>
                <a:cs typeface="Manrope"/>
              </a:defRPr>
            </a:pPr>
            <a:r>
              <a:rPr sz="1500" b="1">
                <a:solidFill>
                  <a:srgbClr val="171B20"/>
                </a:solidFill>
                <a:latin typeface="Manrope"/>
                <a:ea typeface="Manrope"/>
                <a:cs typeface="Manrope"/>
              </a:rPr>
              <a:t>Остатки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C576B1-D70F-4C30-986D-197A0ED18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3267075"/>
            <a:ext cx="2319338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676F79"/>
                </a:solidFill>
                <a:latin typeface="Manrope"/>
                <a:ea typeface="Manrope"/>
                <a:cs typeface="Manrope"/>
              </a:defRPr>
            </a:pPr>
            <a:r>
              <a:rPr sz="1163" b="0">
                <a:solidFill>
                  <a:srgbClr val="676F79"/>
                </a:solidFill>
                <a:latin typeface="Manrope"/>
                <a:ea typeface="Manrope"/>
                <a:cs typeface="Manrope"/>
              </a:rPr>
              <a:t>WB, транзит, возвраты и остаток на конец месяца влияют на план.</a:t>
            </a:r>
          </a:p>
        </p:txBody>
      </p:sp>
      <p:cxnSp>
        <p:nvCxnSpPr>
          <p:cNvPr id="35" name=""/>
          <p:cNvCxnSpPr/>
          <p:nvPr/>
        </p:nvCxnSpPr>
        <p:spPr>
          <a:xfrm xmlns:a="http://schemas.openxmlformats.org/drawingml/2006/main">
            <a:off x="8872538" y="3524250"/>
            <a:ext cx="114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BF50"/>
            </a:solidFill>
            <a:prstDash val="soli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7E7AAE-FF80-4F93-9AC9-01898C7ED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5413" y="2619375"/>
            <a:ext cx="2662238" cy="180975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9FAFB"/>
          </a:solidFill>
          <a:ln xmlns:a="http://schemas.openxmlformats.org/drawingml/2006/main" w="9525">
            <a:solidFill>
              <a:srgbClr val="DBE0E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F72E7E-7747-4659-A16C-2108A8E63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6863" y="2809875"/>
            <a:ext cx="2319338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1B20"/>
                </a:solidFill>
                <a:latin typeface="Manrope"/>
                <a:ea typeface="Manrope"/>
                <a:cs typeface="Manrope"/>
              </a:defRPr>
            </a:pPr>
            <a:r>
              <a:rPr sz="1500" b="1">
                <a:solidFill>
                  <a:srgbClr val="171B20"/>
                </a:solidFill>
                <a:latin typeface="Manrope"/>
                <a:ea typeface="Manrope"/>
                <a:cs typeface="Manrope"/>
              </a:rPr>
              <a:t>Партии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AB8D13C-D094-4704-A0E9-B1ED40D40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6863" y="3267075"/>
            <a:ext cx="2319338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676F79"/>
                </a:solidFill>
                <a:latin typeface="Manrope"/>
                <a:ea typeface="Manrope"/>
                <a:cs typeface="Manrope"/>
              </a:defRPr>
            </a:pPr>
            <a:r>
              <a:rPr sz="1163" b="0">
                <a:solidFill>
                  <a:srgbClr val="676F79"/>
                </a:solidFill>
                <a:latin typeface="Manrope"/>
                <a:ea typeface="Manrope"/>
                <a:cs typeface="Manrope"/>
              </a:rPr>
              <a:t>Закупка разбита по цветам, размерам и датам прихода.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C17FE46-A1CF-4B6E-89DA-A7B6DA323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05375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BF50"/>
                </a:solidFill>
                <a:latin typeface="Manrope"/>
                <a:ea typeface="Manrope"/>
                <a:cs typeface="Manrope"/>
              </a:defRPr>
            </a:pPr>
            <a:r>
              <a:rPr sz="1500" b="1">
                <a:solidFill>
                  <a:srgbClr val="17BF50"/>
                </a:solidFill>
                <a:latin typeface="Manrope"/>
                <a:ea typeface="Manrope"/>
                <a:cs typeface="Manrope"/>
              </a:rPr>
              <a:t>Вывод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9BF08A5-5403-4AE0-AAE8-1B152F609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857750"/>
            <a:ext cx="809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1B20"/>
                </a:solidFill>
                <a:latin typeface="Manrope"/>
                <a:ea typeface="Manrope"/>
                <a:cs typeface="Manrope"/>
              </a:defRPr>
            </a:pPr>
            <a:r>
              <a:rPr sz="1800" b="1">
                <a:solidFill>
                  <a:srgbClr val="171B20"/>
                </a:solidFill>
                <a:latin typeface="Manrope"/>
                <a:ea typeface="Manrope"/>
                <a:cs typeface="Manrope"/>
              </a:rPr>
              <a:t>Модуль панели должен заменить ручное копирование, а не управленческую логику команды.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126E956-2B14-4DD0-9FD1-CD748D0C1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055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76F79"/>
                </a:solidFill>
                <a:latin typeface="Manrope"/>
                <a:ea typeface="Manrope"/>
                <a:cs typeface="Manrope"/>
              </a:defRPr>
            </a:pPr>
            <a:r>
              <a:rPr sz="863" b="0">
                <a:solidFill>
                  <a:srgbClr val="676F79"/>
                </a:solidFill>
                <a:latin typeface="Manrope"/>
                <a:ea typeface="Manrope"/>
                <a:cs typeface="Manrope"/>
              </a:rPr>
              <a:t>Источники: планы продаж Google Sheets / Excel, внутренняя БД WB, MPSTATS-срез 2025-06..2026-06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6CA7D7F-2985-4C69-8358-F090415CA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0555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76F79"/>
                </a:solidFill>
                <a:latin typeface="Manrope"/>
                <a:ea typeface="Manrope"/>
                <a:cs typeface="Manrope"/>
              </a:defRPr>
            </a:pPr>
            <a:r>
              <a:rPr sz="975" b="0">
                <a:solidFill>
                  <a:srgbClr val="676F79"/>
                </a:solidFill>
                <a:latin typeface="Manrope"/>
                <a:ea typeface="Manrope"/>
                <a:cs typeface="Manrope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9994443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A77CBF7-052B-4958-871B-335BE0341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111633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3" b="1">
                <a:solidFill>
                  <a:srgbClr val="171B20"/>
                </a:solidFill>
                <a:latin typeface="Manrope"/>
                <a:ea typeface="Manrope"/>
                <a:cs typeface="Manrope"/>
              </a:defRPr>
            </a:pPr>
            <a:r>
              <a:rPr sz="2903" b="1">
                <a:solidFill>
                  <a:srgbClr val="171B20"/>
                </a:solidFill>
                <a:latin typeface="Manrope"/>
                <a:ea typeface="Manrope"/>
                <a:cs typeface="Manrope"/>
              </a:rPr>
              <a:t>База Q3–Q4 уже описывает крупный сезонный контур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5CD515-9324-4BC3-B9E1-D058A1BA4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28750"/>
            <a:ext cx="3143250" cy="180975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9525">
            <a:solidFill>
              <a:srgbClr val="BEE8C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8209CB-D285-4189-B469-38ECA7305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28800"/>
            <a:ext cx="2686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BF50"/>
                </a:solidFill>
                <a:latin typeface="Manrope"/>
                <a:ea typeface="Manrope"/>
                <a:cs typeface="Manrope"/>
              </a:defRPr>
            </a:pPr>
            <a:r>
              <a:rPr sz="2700" b="1">
                <a:solidFill>
                  <a:srgbClr val="17BF50"/>
                </a:solidFill>
                <a:latin typeface="Manrope"/>
                <a:ea typeface="Manrope"/>
                <a:cs typeface="Manrope"/>
              </a:rPr>
              <a:t>604,8 млн ₽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C4A46A-5B26-421E-9E86-A039E189B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57450"/>
            <a:ext cx="2686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1B20"/>
                </a:solidFill>
                <a:latin typeface="Manrope"/>
                <a:ea typeface="Manrope"/>
                <a:cs typeface="Manrope"/>
              </a:defRPr>
            </a:pPr>
            <a:r>
              <a:rPr sz="1350" b="1">
                <a:solidFill>
                  <a:srgbClr val="171B20"/>
                </a:solidFill>
                <a:latin typeface="Manrope"/>
                <a:ea typeface="Manrope"/>
                <a:cs typeface="Manrope"/>
              </a:rPr>
              <a:t>плановая выручка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5CE642-58E8-47C9-9F15-963338A90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38450"/>
            <a:ext cx="2686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8782"/>
          </a:bodyPr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676F79"/>
                </a:solidFill>
                <a:latin typeface="Manrope"/>
                <a:ea typeface="Manrope"/>
                <a:cs typeface="Manrope"/>
              </a:defRPr>
            </a:pPr>
            <a:r>
              <a:rPr sz="1163" b="0">
                <a:solidFill>
                  <a:srgbClr val="676F79"/>
                </a:solidFill>
                <a:latin typeface="Manrope"/>
                <a:ea typeface="Manrope"/>
                <a:cs typeface="Manrope"/>
              </a:rPr>
              <a:t>Ветровки, демисезон и зима по текущему плану.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2987E4-743F-480E-8CD0-4D003D3B2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428750"/>
            <a:ext cx="3143250" cy="180975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BE0E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66C8B4-3B66-45B2-922A-701D91D01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1828800"/>
            <a:ext cx="2686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1B20"/>
                </a:solidFill>
                <a:latin typeface="Manrope"/>
                <a:ea typeface="Manrope"/>
                <a:cs typeface="Manrope"/>
              </a:defRPr>
            </a:pPr>
            <a:r>
              <a:rPr sz="2700" b="1">
                <a:solidFill>
                  <a:srgbClr val="171B20"/>
                </a:solidFill>
                <a:latin typeface="Manrope"/>
                <a:ea typeface="Manrope"/>
                <a:cs typeface="Manrope"/>
              </a:rPr>
              <a:t>38 106 шт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C81449-04A3-4955-8365-E0105D084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457450"/>
            <a:ext cx="2686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1B20"/>
                </a:solidFill>
                <a:latin typeface="Manrope"/>
                <a:ea typeface="Manrope"/>
                <a:cs typeface="Manrope"/>
              </a:defRPr>
            </a:pPr>
            <a:r>
              <a:rPr sz="1350" b="1">
                <a:solidFill>
                  <a:srgbClr val="171B20"/>
                </a:solidFill>
                <a:latin typeface="Manrope"/>
                <a:ea typeface="Manrope"/>
                <a:cs typeface="Manrope"/>
              </a:rPr>
              <a:t>дозаказ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A7F69E-7DCD-49C6-A518-8DEEA8A4C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838450"/>
            <a:ext cx="2686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3744"/>
          </a:bodyPr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676F79"/>
                </a:solidFill>
                <a:latin typeface="Manrope"/>
                <a:ea typeface="Manrope"/>
                <a:cs typeface="Manrope"/>
              </a:defRPr>
            </a:pPr>
            <a:r>
              <a:rPr sz="1163" b="0">
                <a:solidFill>
                  <a:srgbClr val="676F79"/>
                </a:solidFill>
                <a:latin typeface="Manrope"/>
                <a:ea typeface="Manrope"/>
                <a:cs typeface="Manrope"/>
              </a:rPr>
              <a:t>Партия 1: 19 104 шт; партия 2: 19 002 шт.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B2F1B2-9DFE-4C2B-88D4-2FFAD6D6E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428750"/>
            <a:ext cx="3143250" cy="180975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BE0E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B70585-E459-4ECB-9D83-6317E2E16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828800"/>
            <a:ext cx="2686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1B20"/>
                </a:solidFill>
                <a:latin typeface="Manrope"/>
                <a:ea typeface="Manrope"/>
                <a:cs typeface="Manrope"/>
              </a:defRPr>
            </a:pPr>
            <a:r>
              <a:rPr sz="2700" b="1">
                <a:solidFill>
                  <a:srgbClr val="171B20"/>
                </a:solidFill>
                <a:latin typeface="Manrope"/>
                <a:ea typeface="Manrope"/>
                <a:cs typeface="Manrope"/>
              </a:rPr>
              <a:t>45 624 шт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255448-C293-4DA1-BE39-F2EFCD9C6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457450"/>
            <a:ext cx="2686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1B20"/>
                </a:solidFill>
                <a:latin typeface="Manrope"/>
                <a:ea typeface="Manrope"/>
                <a:cs typeface="Manrope"/>
              </a:defRPr>
            </a:pPr>
            <a:r>
              <a:rPr sz="1350" b="1">
                <a:solidFill>
                  <a:srgbClr val="171B20"/>
                </a:solidFill>
                <a:latin typeface="Manrope"/>
                <a:ea typeface="Manrope"/>
                <a:cs typeface="Manrope"/>
              </a:rPr>
              <a:t>план выкупов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2FF9EC-CFAB-470B-B54C-3CBCE06F9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838450"/>
            <a:ext cx="2686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0852"/>
          </a:bodyPr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676F79"/>
                </a:solidFill>
                <a:latin typeface="Manrope"/>
                <a:ea typeface="Manrope"/>
                <a:cs typeface="Manrope"/>
              </a:defRPr>
            </a:pPr>
            <a:r>
              <a:rPr sz="1163" b="0">
                <a:solidFill>
                  <a:srgbClr val="676F79"/>
                </a:solidFill>
                <a:latin typeface="Manrope"/>
                <a:ea typeface="Manrope"/>
                <a:cs typeface="Manrope"/>
              </a:rPr>
              <a:t>Заказы × ожидаемый % выкупа по категориям.</a:t>
            </a:r>
          </a:p>
        </p:txBody>
      </p:sp>
      <p:graphicFrame>
        <p:nvGraphicFramePr>
          <p:cNvPr id="31" name="Chart"/>
          <p:cNvGraphicFramePr/>
          <p:nvPr/>
        </p:nvGraphicFramePr>
        <p:xfrm>
          <a:off xmlns:a="http://schemas.openxmlformats.org/drawingml/2006/main" x="857250" y="3762375"/>
          <a:ext xmlns:a="http://schemas.openxmlformats.org/drawingml/2006/main" cx="6858000" cy="2095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e7daf2740fb4570"/>
          </a:graphicData>
        </a:graphic>
      </p:graphicFrame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597D4B-8F88-4C49-87E9-A4B496D38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829050"/>
            <a:ext cx="323850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743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B20"/>
                </a:solidFill>
                <a:latin typeface="Manrope"/>
                <a:ea typeface="Manrope"/>
                <a:cs typeface="Manrope"/>
              </a:defRPr>
            </a:pPr>
            <a:r>
              <a:rPr sz="1650" b="1">
                <a:solidFill>
                  <a:srgbClr val="171B20"/>
                </a:solidFill>
                <a:latin typeface="Manrope"/>
                <a:ea typeface="Manrope"/>
                <a:cs typeface="Manrope"/>
              </a:rPr>
              <a:t>Главный управленческий вопрос: не только “сколько продадим”, а хватит ли товара, денег и скорости реакции, если факт пойдёт выше или ниже плана.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A5CC89F-F8F5-47DA-A296-505000149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055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76F79"/>
                </a:solidFill>
                <a:latin typeface="Manrope"/>
                <a:ea typeface="Manrope"/>
                <a:cs typeface="Manrope"/>
              </a:defRPr>
            </a:pPr>
            <a:r>
              <a:rPr sz="863" b="0">
                <a:solidFill>
                  <a:srgbClr val="676F79"/>
                </a:solidFill>
                <a:latin typeface="Manrope"/>
                <a:ea typeface="Manrope"/>
                <a:cs typeface="Manrope"/>
              </a:rPr>
              <a:t>Источники: планы продаж Google Sheets / Excel, внутренняя БД WB, MPSTATS-срез 2025-06..2026-06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F7E55ED-9341-425D-A91B-9BE64F74F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0555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76F79"/>
                </a:solidFill>
                <a:latin typeface="Manrope"/>
                <a:ea typeface="Manrope"/>
                <a:cs typeface="Manrope"/>
              </a:defRPr>
            </a:pPr>
            <a:r>
              <a:rPr sz="975" b="0">
                <a:solidFill>
                  <a:srgbClr val="676F79"/>
                </a:solidFill>
                <a:latin typeface="Manrope"/>
                <a:ea typeface="Manrope"/>
                <a:cs typeface="Manrope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98551986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C53989E-D802-41BC-A8E6-73C996D4E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111633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3" b="1">
                <a:solidFill>
                  <a:srgbClr val="171B20"/>
                </a:solidFill>
                <a:latin typeface="Manrope"/>
                <a:ea typeface="Manrope"/>
                <a:cs typeface="Manrope"/>
              </a:defRPr>
            </a:pPr>
            <a:r>
              <a:rPr sz="2903" b="1">
                <a:solidFill>
                  <a:srgbClr val="171B20"/>
                </a:solidFill>
                <a:latin typeface="Manrope"/>
                <a:ea typeface="Manrope"/>
                <a:cs typeface="Manrope"/>
              </a:rPr>
              <a:t>Сильная таблица не даёт автоматической обратной связи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7FEEFD-8BD6-49E1-9B42-1C19D5A77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71625"/>
            <a:ext cx="5286375" cy="3143250"/>
          </a:xfrm>
          <a:prstGeom xmlns:a="http://schemas.openxmlformats.org/drawingml/2006/main" prst="roundRect">
            <a:avLst>
              <a:gd name="adj" fmla="val 1818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BE0E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421109-2535-42CE-BD3D-9D70EBB88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571625"/>
            <a:ext cx="5286375" cy="3143250"/>
          </a:xfrm>
          <a:prstGeom xmlns:a="http://schemas.openxmlformats.org/drawingml/2006/main" prst="roundRect">
            <a:avLst>
              <a:gd name="adj" fmla="val 1818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BE0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06F700-E130-470D-BDBD-17E55986E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28800"/>
            <a:ext cx="419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71B20"/>
                </a:solidFill>
                <a:latin typeface="Manrope"/>
                <a:ea typeface="Manrope"/>
                <a:cs typeface="Manrope"/>
              </a:defRPr>
            </a:pPr>
            <a:r>
              <a:rPr sz="1950" b="1">
                <a:solidFill>
                  <a:srgbClr val="171B20"/>
                </a:solidFill>
                <a:latin typeface="Manrope"/>
                <a:ea typeface="Manrope"/>
                <a:cs typeface="Manrope"/>
              </a:rPr>
              <a:t>Что уже хорошо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CCB6B1-4A09-44D2-B52A-013F312C1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527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BF50"/>
          </a:solidFill>
          <a:ln xmlns:a="http://schemas.openxmlformats.org/drawingml/2006/main" w="0">
            <a:solidFill>
              <a:srgbClr val="17BF5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B3E8C5-AB62-4FA2-BF35-B1D046895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57450"/>
            <a:ext cx="4267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1B20"/>
                </a:solidFill>
                <a:latin typeface="Manrope"/>
                <a:ea typeface="Manrope"/>
                <a:cs typeface="Manrope"/>
              </a:defRPr>
            </a:pPr>
            <a:r>
              <a:rPr sz="1275" b="0">
                <a:solidFill>
                  <a:srgbClr val="171B20"/>
                </a:solidFill>
                <a:latin typeface="Manrope"/>
                <a:ea typeface="Manrope"/>
                <a:cs typeface="Manrope"/>
              </a:rPr>
              <a:t>План строится снизу вверх по SKU.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387850-0D89-4178-8E5F-8F70967E6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718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BF50"/>
          </a:solidFill>
          <a:ln xmlns:a="http://schemas.openxmlformats.org/drawingml/2006/main" w="0">
            <a:solidFill>
              <a:srgbClr val="17BF5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BCACC8-C33A-4A55-872A-493D15AC0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76550"/>
            <a:ext cx="4267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1B20"/>
                </a:solidFill>
                <a:latin typeface="Manrope"/>
                <a:ea typeface="Manrope"/>
                <a:cs typeface="Manrope"/>
              </a:defRPr>
            </a:pPr>
            <a:r>
              <a:rPr sz="1275" b="0">
                <a:solidFill>
                  <a:srgbClr val="171B20"/>
                </a:solidFill>
                <a:latin typeface="Manrope"/>
                <a:ea typeface="Manrope"/>
                <a:cs typeface="Manrope"/>
              </a:rPr>
              <a:t>Заказы и выкупы разделены.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493827-BE20-4A16-8A32-AF7C26841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909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BF50"/>
          </a:solidFill>
          <a:ln xmlns:a="http://schemas.openxmlformats.org/drawingml/2006/main" w="0">
            <a:solidFill>
              <a:srgbClr val="17BF5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1409C0-34FE-4E72-B851-90551A473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95650"/>
            <a:ext cx="4267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1B20"/>
                </a:solidFill>
                <a:latin typeface="Manrope"/>
                <a:ea typeface="Manrope"/>
                <a:cs typeface="Manrope"/>
              </a:defRPr>
            </a:pPr>
            <a:r>
              <a:rPr sz="1275" b="0">
                <a:solidFill>
                  <a:srgbClr val="171B20"/>
                </a:solidFill>
                <a:latin typeface="Manrope"/>
                <a:ea typeface="Manrope"/>
                <a:cs typeface="Manrope"/>
              </a:rPr>
              <a:t>Учитываются остатки, транзит и партии.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0ADD60-D706-4BC6-9ACD-E71068592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100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BF50"/>
          </a:solidFill>
          <a:ln xmlns:a="http://schemas.openxmlformats.org/drawingml/2006/main" w="0">
            <a:solidFill>
              <a:srgbClr val="17BF5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CCB241-C7C1-44B3-BE16-4F5EF7F3D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14750"/>
            <a:ext cx="4267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1B20"/>
                </a:solidFill>
                <a:latin typeface="Manrope"/>
                <a:ea typeface="Manrope"/>
                <a:cs typeface="Manrope"/>
              </a:defRPr>
            </a:pPr>
            <a:r>
              <a:rPr sz="1275" b="0">
                <a:solidFill>
                  <a:srgbClr val="171B20"/>
                </a:solidFill>
                <a:latin typeface="Manrope"/>
                <a:ea typeface="Manrope"/>
                <a:cs typeface="Manrope"/>
              </a:rPr>
              <a:t>Есть распределение цветов и размеров.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C93D23-7935-421D-AAC5-D95481FE1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828800"/>
            <a:ext cx="447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71B20"/>
                </a:solidFill>
                <a:latin typeface="Manrope"/>
                <a:ea typeface="Manrope"/>
                <a:cs typeface="Manrope"/>
              </a:defRPr>
            </a:pPr>
            <a:r>
              <a:rPr sz="1950" b="1">
                <a:solidFill>
                  <a:srgbClr val="171B20"/>
                </a:solidFill>
                <a:latin typeface="Manrope"/>
                <a:ea typeface="Manrope"/>
                <a:cs typeface="Manrope"/>
              </a:rPr>
              <a:t>Что ломает масштабирование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1BA41D-430C-4AEA-932E-C1E30A029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5527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23B32"/>
          </a:solidFill>
          <a:ln xmlns:a="http://schemas.openxmlformats.org/drawingml/2006/main" w="0">
            <a:solidFill>
              <a:srgbClr val="C23B3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7DC0E8-6842-46B3-A0C5-5870BC06E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457450"/>
            <a:ext cx="4362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1B20"/>
                </a:solidFill>
                <a:latin typeface="Manrope"/>
                <a:ea typeface="Manrope"/>
                <a:cs typeface="Manrope"/>
              </a:defRPr>
            </a:pPr>
            <a:r>
              <a:rPr sz="1275" b="0">
                <a:solidFill>
                  <a:srgbClr val="171B20"/>
                </a:solidFill>
                <a:latin typeface="Manrope"/>
                <a:ea typeface="Manrope"/>
                <a:cs typeface="Manrope"/>
              </a:rPr>
              <a:t>Дневные числа копируются вручную.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67111F-F653-4DE8-A0B4-FBBBBA3D4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9718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23B32"/>
          </a:solidFill>
          <a:ln xmlns:a="http://schemas.openxmlformats.org/drawingml/2006/main" w="0">
            <a:solidFill>
              <a:srgbClr val="C23B3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2ECE0A-A90D-4ACE-AEA9-3400B6732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876550"/>
            <a:ext cx="4362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1B20"/>
                </a:solidFill>
                <a:latin typeface="Manrope"/>
                <a:ea typeface="Manrope"/>
                <a:cs typeface="Manrope"/>
              </a:defRPr>
            </a:pPr>
            <a:r>
              <a:rPr sz="1275" b="0">
                <a:solidFill>
                  <a:srgbClr val="171B20"/>
                </a:solidFill>
                <a:latin typeface="Manrope"/>
                <a:ea typeface="Manrope"/>
                <a:cs typeface="Manrope"/>
              </a:rPr>
              <a:t>% выкупа не учится от факта.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EDAB8D1-D999-44DE-983F-AAC292667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3909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23B32"/>
          </a:solidFill>
          <a:ln xmlns:a="http://schemas.openxmlformats.org/drawingml/2006/main" w="0">
            <a:solidFill>
              <a:srgbClr val="C23B3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3D42B07-CAB7-4EFC-8B97-1481FE9B5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295650"/>
            <a:ext cx="4362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1B20"/>
                </a:solidFill>
                <a:latin typeface="Manrope"/>
                <a:ea typeface="Manrope"/>
                <a:cs typeface="Manrope"/>
              </a:defRPr>
            </a:pPr>
            <a:r>
              <a:rPr sz="1275" b="0">
                <a:solidFill>
                  <a:srgbClr val="171B20"/>
                </a:solidFill>
                <a:latin typeface="Manrope"/>
                <a:ea typeface="Manrope"/>
                <a:cs typeface="Manrope"/>
              </a:rPr>
              <a:t>Нет версий, статусов и план-факта.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1346728-2198-4221-BA42-E584F91BA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8100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23B32"/>
          </a:solidFill>
          <a:ln xmlns:a="http://schemas.openxmlformats.org/drawingml/2006/main" w="0">
            <a:solidFill>
              <a:srgbClr val="C23B3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1D49760-D989-4ADA-84E0-48D67EB77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714750"/>
            <a:ext cx="4362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1B20"/>
                </a:solidFill>
                <a:latin typeface="Manrope"/>
                <a:ea typeface="Manrope"/>
                <a:cs typeface="Manrope"/>
              </a:defRPr>
            </a:pPr>
            <a:r>
              <a:rPr sz="1275" b="0">
                <a:solidFill>
                  <a:srgbClr val="171B20"/>
                </a:solidFill>
                <a:latin typeface="Manrope"/>
                <a:ea typeface="Manrope"/>
                <a:cs typeface="Manrope"/>
              </a:rPr>
              <a:t>Есть риск несостыковок: ветровки 3 000 vs 2 000 шт.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A15163A-41E4-415C-8BFD-586E5FA39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191125"/>
            <a:ext cx="952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1438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BF50"/>
                </a:solidFill>
                <a:latin typeface="Manrope"/>
                <a:ea typeface="Manrope"/>
                <a:cs typeface="Manrope"/>
              </a:defRPr>
            </a:pPr>
            <a:r>
              <a:rPr sz="1875" b="1">
                <a:solidFill>
                  <a:srgbClr val="17BF50"/>
                </a:solidFill>
                <a:latin typeface="Manrope"/>
                <a:ea typeface="Manrope"/>
                <a:cs typeface="Manrope"/>
              </a:rPr>
              <a:t>Решение: ручные правки остаются, но базовый прогноз и контроль ошибок делает система.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A6A5E42-C594-496B-9914-990A0DF0C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055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76F79"/>
                </a:solidFill>
                <a:latin typeface="Manrope"/>
                <a:ea typeface="Manrope"/>
                <a:cs typeface="Manrope"/>
              </a:defRPr>
            </a:pPr>
            <a:r>
              <a:rPr sz="863" b="0">
                <a:solidFill>
                  <a:srgbClr val="676F79"/>
                </a:solidFill>
                <a:latin typeface="Manrope"/>
                <a:ea typeface="Manrope"/>
                <a:cs typeface="Manrope"/>
              </a:rPr>
              <a:t>Источники: планы продаж Google Sheets / Excel, внутренняя БД WB, MPSTATS-срез 2025-06..2026-06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D7FF18D-C6F8-4598-8BDF-CAE6343D4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0555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76F79"/>
                </a:solidFill>
                <a:latin typeface="Manrope"/>
                <a:ea typeface="Manrope"/>
                <a:cs typeface="Manrope"/>
              </a:defRPr>
            </a:pPr>
            <a:r>
              <a:rPr sz="975" b="0">
                <a:solidFill>
                  <a:srgbClr val="676F79"/>
                </a:solidFill>
                <a:latin typeface="Manrope"/>
                <a:ea typeface="Manrope"/>
                <a:cs typeface="Manrope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80027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9E5BBFD-2396-4A99-87DC-F3A78CA11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111633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2577"/>
          </a:bodyPr>
          <a:lstStyle xmlns:a="http://schemas.openxmlformats.org/drawingml/2006/main"/>
          <a:p xmlns:a="http://schemas.openxmlformats.org/drawingml/2006/main">
            <a:pPr algn="l">
              <a:defRPr sz="2903" b="1">
                <a:solidFill>
                  <a:srgbClr val="171B20"/>
                </a:solidFill>
                <a:latin typeface="Manrope"/>
                <a:ea typeface="Manrope"/>
                <a:cs typeface="Manrope"/>
              </a:defRPr>
            </a:pPr>
            <a:r>
              <a:rPr sz="2903" b="1">
                <a:solidFill>
                  <a:srgbClr val="171B20"/>
                </a:solidFill>
                <a:latin typeface="Manrope"/>
                <a:ea typeface="Manrope"/>
                <a:cs typeface="Manrope"/>
              </a:rPr>
              <a:t>MPSTATS нужен как внешний слой сезонности, а не как единственная правда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3BE2D8-D160-4249-8BF2-D77596E5F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38250"/>
            <a:ext cx="10191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1B20"/>
                </a:solidFill>
                <a:latin typeface="Manrope"/>
                <a:ea typeface="Manrope"/>
                <a:cs typeface="Manrope"/>
              </a:defRPr>
            </a:pPr>
            <a:r>
              <a:rPr sz="1650" b="0">
                <a:solidFill>
                  <a:srgbClr val="171B20"/>
                </a:solidFill>
                <a:latin typeface="Manrope"/>
                <a:ea typeface="Manrope"/>
                <a:cs typeface="Manrope"/>
              </a:rPr>
              <a:t>Внутренний факт отвечает за ваши SKU, MPSTATS — за форму рынка: когда категория растёт, где пик и насколько опасно продавать в ноль.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2563A6-3345-4475-B023-BE0F99FD5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38375"/>
            <a:ext cx="2095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B20"/>
          </a:solidFill>
          <a:ln xmlns:a="http://schemas.openxmlformats.org/drawingml/2006/main" w="9525">
            <a:solidFill>
              <a:srgbClr val="D3D2D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1861D6-C78F-45A7-B886-B7739656E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2314575"/>
            <a:ext cx="1924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088" b="1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Категория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662A1F-63E0-422D-9FF1-DBB94110D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238375"/>
            <a:ext cx="1714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B20"/>
          </a:solidFill>
          <a:ln xmlns:a="http://schemas.openxmlformats.org/drawingml/2006/main" w="9525">
            <a:solidFill>
              <a:srgbClr val="D3D2D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BE789B-0EFE-4484-9B6F-77E83DD58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2314575"/>
            <a:ext cx="1543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088" b="1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Пик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59D95A-E620-4094-9997-AE6C399B4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238375"/>
            <a:ext cx="1714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B20"/>
          </a:solidFill>
          <a:ln xmlns:a="http://schemas.openxmlformats.org/drawingml/2006/main" w="9525">
            <a:solidFill>
              <a:srgbClr val="D3D2D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32A325-6FB0-4B1A-A26B-88751EC77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314575"/>
            <a:ext cx="1543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088" b="1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Пик 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414535-F96D-4B19-ADF3-CF5DED82B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238375"/>
            <a:ext cx="1714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B20"/>
          </a:solidFill>
          <a:ln xmlns:a="http://schemas.openxmlformats.org/drawingml/2006/main" w="9525">
            <a:solidFill>
              <a:srgbClr val="D3D2D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6A5490-3417-4AF8-81A1-CAE6D8B04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2314575"/>
            <a:ext cx="1543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088" b="1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Дно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661A8B-08F7-40EC-AA3D-A1700ACB3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238375"/>
            <a:ext cx="2476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B20"/>
          </a:solidFill>
          <a:ln xmlns:a="http://schemas.openxmlformats.org/drawingml/2006/main" w="9525">
            <a:solidFill>
              <a:srgbClr val="D3D2D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BDABDE-4B1B-422F-85E7-1BC1D1C1A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2314575"/>
            <a:ext cx="2305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088" b="1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Как использовать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F7DBE3-D2B8-4F4C-BD5E-5081587A6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52725"/>
            <a:ext cx="2095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B"/>
          </a:solidFill>
          <a:ln xmlns:a="http://schemas.openxmlformats.org/drawingml/2006/main" w="9525">
            <a:solidFill>
              <a:srgbClr val="D3D2D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110C68-2215-4C42-BE38-73BCA990D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2828925"/>
            <a:ext cx="1924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71B20"/>
                </a:solidFill>
                <a:latin typeface="Manrope"/>
                <a:ea typeface="Manrope"/>
                <a:cs typeface="Manrope"/>
              </a:defRPr>
            </a:pPr>
            <a:r>
              <a:rPr sz="1088" b="0">
                <a:solidFill>
                  <a:srgbClr val="171B20"/>
                </a:solidFill>
                <a:latin typeface="Manrope"/>
                <a:ea typeface="Manrope"/>
                <a:cs typeface="Manrope"/>
              </a:rPr>
              <a:t>Ветровки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FD9FA0-BB03-4E36-BB0E-29305B731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752725"/>
            <a:ext cx="1714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B"/>
          </a:solidFill>
          <a:ln xmlns:a="http://schemas.openxmlformats.org/drawingml/2006/main" w="9525">
            <a:solidFill>
              <a:srgbClr val="D3D2D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345A3F2-0763-4B11-821B-2A97D68F4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2828925"/>
            <a:ext cx="1543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71B20"/>
                </a:solidFill>
                <a:latin typeface="Manrope"/>
                <a:ea typeface="Manrope"/>
                <a:cs typeface="Manrope"/>
              </a:defRPr>
            </a:pPr>
            <a:r>
              <a:rPr sz="1088" b="0">
                <a:solidFill>
                  <a:srgbClr val="171B20"/>
                </a:solidFill>
                <a:latin typeface="Manrope"/>
                <a:ea typeface="Manrope"/>
                <a:cs typeface="Manrope"/>
              </a:rPr>
              <a:t>март +86%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A690ECF-CB2D-49B3-9730-D4A72EAAC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752725"/>
            <a:ext cx="1714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B"/>
          </a:solidFill>
          <a:ln xmlns:a="http://schemas.openxmlformats.org/drawingml/2006/main" w="9525">
            <a:solidFill>
              <a:srgbClr val="D3D2D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67DAA4F-5EC7-4A84-8CDC-4E76B8204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828925"/>
            <a:ext cx="1543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71B20"/>
                </a:solidFill>
                <a:latin typeface="Manrope"/>
                <a:ea typeface="Manrope"/>
                <a:cs typeface="Manrope"/>
              </a:defRPr>
            </a:pPr>
            <a:r>
              <a:rPr sz="1088" b="0">
                <a:solidFill>
                  <a:srgbClr val="171B20"/>
                </a:solidFill>
                <a:latin typeface="Manrope"/>
                <a:ea typeface="Manrope"/>
                <a:cs typeface="Manrope"/>
              </a:rPr>
              <a:t>сентябрь +60%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75082C4-5EAA-4C85-AC81-4DCD36B63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752725"/>
            <a:ext cx="1714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B"/>
          </a:solidFill>
          <a:ln xmlns:a="http://schemas.openxmlformats.org/drawingml/2006/main" w="9525">
            <a:solidFill>
              <a:srgbClr val="D3D2D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C801EC5-F2F2-4F3B-9E30-B4C14E97E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2828925"/>
            <a:ext cx="1543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71B20"/>
                </a:solidFill>
                <a:latin typeface="Manrope"/>
                <a:ea typeface="Manrope"/>
                <a:cs typeface="Manrope"/>
              </a:defRPr>
            </a:pPr>
            <a:r>
              <a:rPr sz="1088" b="0">
                <a:solidFill>
                  <a:srgbClr val="171B20"/>
                </a:solidFill>
                <a:latin typeface="Manrope"/>
                <a:ea typeface="Manrope"/>
                <a:cs typeface="Manrope"/>
              </a:rPr>
              <a:t>июль -55%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1C2DAB2-CF81-49CA-A128-8698CCB42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752725"/>
            <a:ext cx="2476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B"/>
          </a:solidFill>
          <a:ln xmlns:a="http://schemas.openxmlformats.org/drawingml/2006/main" w="9525">
            <a:solidFill>
              <a:srgbClr val="D3D2D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E4C4E26-7D67-4D37-96AB-2CA409B3C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2828925"/>
            <a:ext cx="2305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71B20"/>
                </a:solidFill>
                <a:latin typeface="Manrope"/>
                <a:ea typeface="Manrope"/>
                <a:cs typeface="Manrope"/>
              </a:defRPr>
            </a:pPr>
            <a:r>
              <a:rPr sz="1088" b="0">
                <a:solidFill>
                  <a:srgbClr val="171B20"/>
                </a:solidFill>
                <a:latin typeface="Manrope"/>
                <a:ea typeface="Manrope"/>
                <a:cs typeface="Manrope"/>
              </a:rPr>
              <a:t>усиливать сентябрь, быстро снижать после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7B63927-28B5-43C9-936F-B369E8E14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67075"/>
            <a:ext cx="2095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D2D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46BF872-9B25-4EDE-A2EF-53F3397C9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3343275"/>
            <a:ext cx="1924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71B20"/>
                </a:solidFill>
                <a:latin typeface="Manrope"/>
                <a:ea typeface="Manrope"/>
                <a:cs typeface="Manrope"/>
              </a:defRPr>
            </a:pPr>
            <a:r>
              <a:rPr sz="1088" b="0">
                <a:solidFill>
                  <a:srgbClr val="171B20"/>
                </a:solidFill>
                <a:latin typeface="Manrope"/>
                <a:ea typeface="Manrope"/>
                <a:cs typeface="Manrope"/>
              </a:rPr>
              <a:t>Демисезон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5B29102-9981-455B-9648-67528F669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267075"/>
            <a:ext cx="1714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D2D2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35773D0-00C8-4FE9-AA43-25538B00C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3343275"/>
            <a:ext cx="1543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71B20"/>
                </a:solidFill>
                <a:latin typeface="Manrope"/>
                <a:ea typeface="Manrope"/>
                <a:cs typeface="Manrope"/>
              </a:defRPr>
            </a:pPr>
            <a:r>
              <a:rPr sz="1088" b="0">
                <a:solidFill>
                  <a:srgbClr val="171B20"/>
                </a:solidFill>
                <a:latin typeface="Manrope"/>
                <a:ea typeface="Manrope"/>
                <a:cs typeface="Manrope"/>
              </a:rPr>
              <a:t>март +57%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B53B182-D3ED-41E7-A10D-8D2EEB988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267075"/>
            <a:ext cx="1714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D2D2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C0DDDBC-26C5-4086-A0D4-25378E5FD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3343275"/>
            <a:ext cx="1543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71B20"/>
                </a:solidFill>
                <a:latin typeface="Manrope"/>
                <a:ea typeface="Manrope"/>
                <a:cs typeface="Manrope"/>
              </a:defRPr>
            </a:pPr>
            <a:r>
              <a:rPr sz="1088" b="0">
                <a:solidFill>
                  <a:srgbClr val="171B20"/>
                </a:solidFill>
                <a:latin typeface="Manrope"/>
                <a:ea typeface="Manrope"/>
                <a:cs typeface="Manrope"/>
              </a:rPr>
              <a:t>октябрь +101%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24EB9D4-9C62-4AAC-A38C-110BCF6C6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267075"/>
            <a:ext cx="1714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D2D2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B94469E-C042-4706-87E1-14A8979D8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3343275"/>
            <a:ext cx="1543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71B20"/>
                </a:solidFill>
                <a:latin typeface="Manrope"/>
                <a:ea typeface="Manrope"/>
                <a:cs typeface="Manrope"/>
              </a:defRPr>
            </a:pPr>
            <a:r>
              <a:rPr sz="1088" b="0">
                <a:solidFill>
                  <a:srgbClr val="171B20"/>
                </a:solidFill>
                <a:latin typeface="Manrope"/>
                <a:ea typeface="Manrope"/>
                <a:cs typeface="Manrope"/>
              </a:rPr>
              <a:t>июль -73%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A584E02-334B-4028-8945-AAFCD3657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267075"/>
            <a:ext cx="2476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D2D2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C87264B-D3A1-454F-B90A-662FF3A53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3343275"/>
            <a:ext cx="2305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71B20"/>
                </a:solidFill>
                <a:latin typeface="Manrope"/>
                <a:ea typeface="Manrope"/>
                <a:cs typeface="Manrope"/>
              </a:defRPr>
            </a:pPr>
            <a:r>
              <a:rPr sz="1088" b="0">
                <a:solidFill>
                  <a:srgbClr val="171B20"/>
                </a:solidFill>
                <a:latin typeface="Manrope"/>
                <a:ea typeface="Manrope"/>
                <a:cs typeface="Manrope"/>
              </a:rPr>
              <a:t>готовить остаток под октябрь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042DF18-0FCD-4216-A12D-F439E9450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81425"/>
            <a:ext cx="2095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B"/>
          </a:solidFill>
          <a:ln xmlns:a="http://schemas.openxmlformats.org/drawingml/2006/main" w="9525">
            <a:solidFill>
              <a:srgbClr val="D3D2D2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5973469-8CA0-4FD0-B45A-8487BD1B8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3857625"/>
            <a:ext cx="1924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71B20"/>
                </a:solidFill>
                <a:latin typeface="Manrope"/>
                <a:ea typeface="Manrope"/>
                <a:cs typeface="Manrope"/>
              </a:defRPr>
            </a:pPr>
            <a:r>
              <a:rPr sz="1088" b="0">
                <a:solidFill>
                  <a:srgbClr val="171B20"/>
                </a:solidFill>
                <a:latin typeface="Manrope"/>
                <a:ea typeface="Manrope"/>
                <a:cs typeface="Manrope"/>
              </a:rPr>
              <a:t>Зима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705FBE6-D551-4828-8E0F-965D3A2EF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781425"/>
            <a:ext cx="1714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B"/>
          </a:solidFill>
          <a:ln xmlns:a="http://schemas.openxmlformats.org/drawingml/2006/main" w="9525">
            <a:solidFill>
              <a:srgbClr val="D3D2D2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18C894F-5E7F-4317-AB1F-66FC23420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3857625"/>
            <a:ext cx="1543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71B20"/>
                </a:solidFill>
                <a:latin typeface="Manrope"/>
                <a:ea typeface="Manrope"/>
                <a:cs typeface="Manrope"/>
              </a:defRPr>
            </a:pPr>
            <a:r>
              <a:rPr sz="1088" b="0">
                <a:solidFill>
                  <a:srgbClr val="171B20"/>
                </a:solidFill>
                <a:latin typeface="Manrope"/>
                <a:ea typeface="Manrope"/>
                <a:cs typeface="Manrope"/>
              </a:rPr>
              <a:t>октябрь +120%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9F04A95-DCFA-44B5-A668-2E091525B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781425"/>
            <a:ext cx="1714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B"/>
          </a:solidFill>
          <a:ln xmlns:a="http://schemas.openxmlformats.org/drawingml/2006/main" w="9525">
            <a:solidFill>
              <a:srgbClr val="D3D2D2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4DF2713-F17B-48C8-9EE8-0AA94DF6A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3857625"/>
            <a:ext cx="1543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71B20"/>
                </a:solidFill>
                <a:latin typeface="Manrope"/>
                <a:ea typeface="Manrope"/>
                <a:cs typeface="Manrope"/>
              </a:defRPr>
            </a:pPr>
            <a:r>
              <a:rPr sz="1088" b="0">
                <a:solidFill>
                  <a:srgbClr val="171B20"/>
                </a:solidFill>
                <a:latin typeface="Manrope"/>
                <a:ea typeface="Manrope"/>
                <a:cs typeface="Manrope"/>
              </a:rPr>
              <a:t>ноябрь +143%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474A15F-FD24-4D09-A06F-EA8165514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781425"/>
            <a:ext cx="1714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B"/>
          </a:solidFill>
          <a:ln xmlns:a="http://schemas.openxmlformats.org/drawingml/2006/main" w="9525">
            <a:solidFill>
              <a:srgbClr val="D3D2D2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D660CA0-89F5-44A8-AA34-104E298B5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3857625"/>
            <a:ext cx="1543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71B20"/>
                </a:solidFill>
                <a:latin typeface="Manrope"/>
                <a:ea typeface="Manrope"/>
                <a:cs typeface="Manrope"/>
              </a:defRPr>
            </a:pPr>
            <a:r>
              <a:rPr sz="1088" b="0">
                <a:solidFill>
                  <a:srgbClr val="171B20"/>
                </a:solidFill>
                <a:latin typeface="Manrope"/>
                <a:ea typeface="Manrope"/>
                <a:cs typeface="Manrope"/>
              </a:rPr>
              <a:t>июнь -79%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1801DD6-4CBF-4CAA-9A40-EBA26E6D4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781425"/>
            <a:ext cx="2476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B"/>
          </a:solidFill>
          <a:ln xmlns:a="http://schemas.openxmlformats.org/drawingml/2006/main" w="9525">
            <a:solidFill>
              <a:srgbClr val="D3D2D2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DE09CAB-B4F0-4C75-AB0C-D7020A938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3857625"/>
            <a:ext cx="2305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71B20"/>
                </a:solidFill>
                <a:latin typeface="Manrope"/>
                <a:ea typeface="Manrope"/>
                <a:cs typeface="Manrope"/>
              </a:defRPr>
            </a:pPr>
            <a:r>
              <a:rPr sz="1088" b="0">
                <a:solidFill>
                  <a:srgbClr val="171B20"/>
                </a:solidFill>
                <a:latin typeface="Manrope"/>
                <a:ea typeface="Manrope"/>
                <a:cs typeface="Manrope"/>
              </a:rPr>
              <a:t>строить поставки до пика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C35E9D9-7DF6-4A92-8104-5BC7C2CB3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672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BF50"/>
                </a:solidFill>
                <a:latin typeface="Manrope"/>
                <a:ea typeface="Manrope"/>
                <a:cs typeface="Manrope"/>
              </a:defRPr>
            </a:pPr>
            <a:r>
              <a:rPr sz="1650" b="1">
                <a:solidFill>
                  <a:srgbClr val="17BF50"/>
                </a:solidFill>
                <a:latin typeface="Manrope"/>
                <a:ea typeface="Manrope"/>
                <a:cs typeface="Manrope"/>
              </a:rPr>
              <a:t>Ключевой принцип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97F33C4-DB0E-4656-A0F9-BE3EE758F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048250"/>
            <a:ext cx="8477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0128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71B20"/>
                </a:solidFill>
                <a:latin typeface="Manrope"/>
                <a:ea typeface="Manrope"/>
                <a:cs typeface="Manrope"/>
              </a:defRPr>
            </a:pPr>
            <a:r>
              <a:rPr sz="1950" b="1">
                <a:solidFill>
                  <a:srgbClr val="171B20"/>
                </a:solidFill>
                <a:latin typeface="Manrope"/>
                <a:ea typeface="Manrope"/>
                <a:cs typeface="Manrope"/>
              </a:rPr>
              <a:t>Сезонность должна быть коэффициентом в прогнозе, а не ручной кривой в каждой копии Excel.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53995CB-AC1A-4A33-90EE-297DD8D7F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055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76F79"/>
                </a:solidFill>
                <a:latin typeface="Manrope"/>
                <a:ea typeface="Manrope"/>
                <a:cs typeface="Manrope"/>
              </a:defRPr>
            </a:pPr>
            <a:r>
              <a:rPr sz="863" b="0">
                <a:solidFill>
                  <a:srgbClr val="676F79"/>
                </a:solidFill>
                <a:latin typeface="Manrope"/>
                <a:ea typeface="Manrope"/>
                <a:cs typeface="Manrope"/>
              </a:rPr>
              <a:t>Источники: планы продаж Google Sheets / Excel, внутренняя БД WB, MPSTATS-срез 2025-06..2026-06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AD1B753-C2F1-46C0-BA2F-11AF12922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0555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76F79"/>
                </a:solidFill>
                <a:latin typeface="Manrope"/>
                <a:ea typeface="Manrope"/>
                <a:cs typeface="Manrope"/>
              </a:defRPr>
            </a:pPr>
            <a:r>
              <a:rPr sz="975" b="0">
                <a:solidFill>
                  <a:srgbClr val="676F79"/>
                </a:solidFill>
                <a:latin typeface="Manrope"/>
                <a:ea typeface="Manrope"/>
                <a:cs typeface="Manrope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92414606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29F9887-0BA4-44D7-AF46-D1FA4FF4C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111633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7483"/>
          </a:bodyPr>
          <a:lstStyle xmlns:a="http://schemas.openxmlformats.org/drawingml/2006/main"/>
          <a:p xmlns:a="http://schemas.openxmlformats.org/drawingml/2006/main">
            <a:pPr algn="l">
              <a:defRPr sz="2903" b="1">
                <a:solidFill>
                  <a:srgbClr val="171B20"/>
                </a:solidFill>
                <a:latin typeface="Manrope"/>
                <a:ea typeface="Manrope"/>
                <a:cs typeface="Manrope"/>
              </a:defRPr>
            </a:pPr>
            <a:r>
              <a:rPr sz="2903" b="1">
                <a:solidFill>
                  <a:srgbClr val="171B20"/>
                </a:solidFill>
                <a:latin typeface="Manrope"/>
                <a:ea typeface="Manrope"/>
                <a:cs typeface="Manrope"/>
              </a:rPr>
              <a:t>Целевая архитектура соединяет факт, рынок и решения команды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8A9DAB-1397-4C23-B003-3D2CF1A4A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66875"/>
            <a:ext cx="2662238" cy="1905000"/>
          </a:xfrm>
          <a:prstGeom xmlns:a="http://schemas.openxmlformats.org/drawingml/2006/main" prst="roundRect">
            <a:avLst>
              <a:gd name="adj" fmla="val 3000"/>
            </a:avLst>
          </a:prstGeom>
          <a:solidFill xmlns:a="http://schemas.openxmlformats.org/drawingml/2006/main">
            <a:srgbClr val="F9FAFB"/>
          </a:solidFill>
          <a:ln xmlns:a="http://schemas.openxmlformats.org/drawingml/2006/main" w="9525">
            <a:solidFill>
              <a:srgbClr val="DBE0E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7B7DAF-9A36-482B-BC3F-326F9E7B0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2319338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1B20"/>
                </a:solidFill>
                <a:latin typeface="Manrope"/>
                <a:ea typeface="Manrope"/>
                <a:cs typeface="Manrope"/>
              </a:defRPr>
            </a:pPr>
            <a:r>
              <a:rPr sz="1500" b="1">
                <a:solidFill>
                  <a:srgbClr val="171B20"/>
                </a:solidFill>
                <a:latin typeface="Manrope"/>
                <a:ea typeface="Manrope"/>
                <a:cs typeface="Manrope"/>
              </a:rPr>
              <a:t>WB факт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BB1A38-6174-4B86-9708-BE26BDD22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14575"/>
            <a:ext cx="2319338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676F79"/>
                </a:solidFill>
                <a:latin typeface="Manrope"/>
                <a:ea typeface="Manrope"/>
                <a:cs typeface="Manrope"/>
              </a:defRPr>
            </a:pPr>
            <a:r>
              <a:rPr sz="1163" b="0">
                <a:solidFill>
                  <a:srgbClr val="676F79"/>
                </a:solidFill>
                <a:latin typeface="Manrope"/>
                <a:ea typeface="Manrope"/>
                <a:cs typeface="Manrope"/>
              </a:rPr>
              <a:t>orders, sales, stocks, funnel, ads, cabinet_id, product_costs.</a:t>
            </a:r>
          </a:p>
        </p:txBody>
      </p:sp>
      <p:cxnSp>
        <p:nvCxnSpPr>
          <p:cNvPr id="25" name=""/>
          <p:cNvCxnSpPr/>
          <p:nvPr/>
        </p:nvCxnSpPr>
        <p:spPr>
          <a:xfrm xmlns:a="http://schemas.openxmlformats.org/drawingml/2006/main">
            <a:off x="3205163" y="2619375"/>
            <a:ext cx="114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BF50"/>
            </a:solidFill>
            <a:prstDash val="solid"/>
          </a:ln>
        </p:spPr>
      </p:cxn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D8E393-77FE-4014-96A7-C701473DF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8038" y="1666875"/>
            <a:ext cx="2662238" cy="1905000"/>
          </a:xfrm>
          <a:prstGeom xmlns:a="http://schemas.openxmlformats.org/drawingml/2006/main" prst="roundRect">
            <a:avLst>
              <a:gd name="adj" fmla="val 3000"/>
            </a:avLst>
          </a:prstGeom>
          <a:solidFill xmlns:a="http://schemas.openxmlformats.org/drawingml/2006/main">
            <a:srgbClr val="F9FAFB"/>
          </a:solidFill>
          <a:ln xmlns:a="http://schemas.openxmlformats.org/drawingml/2006/main" w="9525">
            <a:solidFill>
              <a:srgbClr val="DBE0E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B5E4D9-D366-4116-86EC-4E606998D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9488" y="1857375"/>
            <a:ext cx="2319338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1B20"/>
                </a:solidFill>
                <a:latin typeface="Manrope"/>
                <a:ea typeface="Manrope"/>
                <a:cs typeface="Manrope"/>
              </a:defRPr>
            </a:pPr>
            <a:r>
              <a:rPr sz="1500" b="1">
                <a:solidFill>
                  <a:srgbClr val="171B20"/>
                </a:solidFill>
                <a:latin typeface="Manrope"/>
                <a:ea typeface="Manrope"/>
                <a:cs typeface="Manrope"/>
              </a:rPr>
              <a:t>MPSTATS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032807-4D99-48D5-8DC0-C20CD55FF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9488" y="2314575"/>
            <a:ext cx="2319338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676F79"/>
                </a:solidFill>
                <a:latin typeface="Manrope"/>
                <a:ea typeface="Manrope"/>
                <a:cs typeface="Manrope"/>
              </a:defRPr>
            </a:pPr>
            <a:r>
              <a:rPr sz="1163" b="0">
                <a:solidFill>
                  <a:srgbClr val="676F79"/>
                </a:solidFill>
                <a:latin typeface="Manrope"/>
                <a:ea typeface="Manrope"/>
                <a:cs typeface="Manrope"/>
              </a:rPr>
              <a:t>сезонность, ниши, цены, конкуренты, спрос по категории.</a:t>
            </a:r>
          </a:p>
        </p:txBody>
      </p:sp>
      <p:cxnSp>
        <p:nvCxnSpPr>
          <p:cNvPr id="29" name=""/>
          <p:cNvCxnSpPr/>
          <p:nvPr/>
        </p:nvCxnSpPr>
        <p:spPr>
          <a:xfrm xmlns:a="http://schemas.openxmlformats.org/drawingml/2006/main">
            <a:off x="6038850" y="2619375"/>
            <a:ext cx="114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BF50"/>
            </a:solidFill>
            <a:prstDash val="solid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B8A4F9-3A7F-45F0-A837-A8F518A97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1666875"/>
            <a:ext cx="2662238" cy="1905000"/>
          </a:xfrm>
          <a:prstGeom xmlns:a="http://schemas.openxmlformats.org/drawingml/2006/main" prst="roundRect">
            <a:avLst>
              <a:gd name="adj" fmla="val 3000"/>
            </a:avLst>
          </a:prstGeom>
          <a:solidFill xmlns:a="http://schemas.openxmlformats.org/drawingml/2006/main">
            <a:srgbClr val="F9FAFB"/>
          </a:solidFill>
          <a:ln xmlns:a="http://schemas.openxmlformats.org/drawingml/2006/main" w="9525">
            <a:solidFill>
              <a:srgbClr val="DBE0E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C9A914-4B50-4D53-AE1E-12B2640B6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1857375"/>
            <a:ext cx="2319338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1B20"/>
                </a:solidFill>
                <a:latin typeface="Manrope"/>
                <a:ea typeface="Manrope"/>
                <a:cs typeface="Manrope"/>
              </a:defRPr>
            </a:pPr>
            <a:r>
              <a:rPr sz="1500" b="1">
                <a:solidFill>
                  <a:srgbClr val="171B20"/>
                </a:solidFill>
                <a:latin typeface="Manrope"/>
                <a:ea typeface="Manrope"/>
                <a:cs typeface="Manrope"/>
              </a:rPr>
              <a:t>Предпосылки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C7EA7C-75C7-4BB6-8071-5EE9AA666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314575"/>
            <a:ext cx="2319338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676F79"/>
                </a:solidFill>
                <a:latin typeface="Manrope"/>
                <a:ea typeface="Manrope"/>
                <a:cs typeface="Manrope"/>
              </a:defRPr>
            </a:pPr>
            <a:r>
              <a:rPr sz="1163" b="0">
                <a:solidFill>
                  <a:srgbClr val="676F79"/>
                </a:solidFill>
                <a:latin typeface="Manrope"/>
                <a:ea typeface="Manrope"/>
                <a:cs typeface="Manrope"/>
              </a:rPr>
              <a:t>цели, % выкупа, цена, ДРР, партии, ручные overrides.</a:t>
            </a:r>
          </a:p>
        </p:txBody>
      </p:sp>
      <p:cxnSp>
        <p:nvCxnSpPr>
          <p:cNvPr id="33" name=""/>
          <p:cNvCxnSpPr/>
          <p:nvPr/>
        </p:nvCxnSpPr>
        <p:spPr>
          <a:xfrm xmlns:a="http://schemas.openxmlformats.org/drawingml/2006/main">
            <a:off x="8872538" y="2619375"/>
            <a:ext cx="114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BF50"/>
            </a:solidFill>
            <a:prstDash val="solid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6F0138-439D-410E-A8E0-029A82314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5413" y="1666875"/>
            <a:ext cx="2662238" cy="1905000"/>
          </a:xfrm>
          <a:prstGeom xmlns:a="http://schemas.openxmlformats.org/drawingml/2006/main" prst="roundRect">
            <a:avLst>
              <a:gd name="adj" fmla="val 3000"/>
            </a:avLst>
          </a:prstGeom>
          <a:solidFill xmlns:a="http://schemas.openxmlformats.org/drawingml/2006/main">
            <a:srgbClr val="F9FAFB"/>
          </a:solidFill>
          <a:ln xmlns:a="http://schemas.openxmlformats.org/drawingml/2006/main" w="9525">
            <a:solidFill>
              <a:srgbClr val="DBE0E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C42750-9995-44A6-8ED3-604DA297E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6863" y="1857375"/>
            <a:ext cx="2319338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1B20"/>
                </a:solidFill>
                <a:latin typeface="Manrope"/>
                <a:ea typeface="Manrope"/>
                <a:cs typeface="Manrope"/>
              </a:defRPr>
            </a:pPr>
            <a:r>
              <a:rPr sz="1500" b="1">
                <a:solidFill>
                  <a:srgbClr val="171B20"/>
                </a:solidFill>
                <a:latin typeface="Manrope"/>
                <a:ea typeface="Manrope"/>
                <a:cs typeface="Manrope"/>
              </a:rPr>
              <a:t>Прогноз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CE7CBA3-533F-4CF1-BB99-64F0CFDE6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6863" y="2314575"/>
            <a:ext cx="2319338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676F79"/>
                </a:solidFill>
                <a:latin typeface="Manrope"/>
                <a:ea typeface="Manrope"/>
                <a:cs typeface="Manrope"/>
              </a:defRPr>
            </a:pPr>
            <a:r>
              <a:rPr sz="1163" b="0">
                <a:solidFill>
                  <a:srgbClr val="676F79"/>
                </a:solidFill>
                <a:latin typeface="Manrope"/>
                <a:ea typeface="Manrope"/>
                <a:cs typeface="Manrope"/>
              </a:rPr>
              <a:t>SKU/day → месяц → закупка → ОПиУ/ДДС.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5E826F0-8590-4E24-BED3-38BB545A1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286250"/>
            <a:ext cx="9620250" cy="8763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9525">
            <a:solidFill>
              <a:srgbClr val="BEE8C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63D69B3-72E3-48E5-B74F-5D9FFDAC7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495800"/>
            <a:ext cx="914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695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1B20"/>
                </a:solidFill>
                <a:latin typeface="Manrope"/>
                <a:ea typeface="Manrope"/>
                <a:cs typeface="Manrope"/>
              </a:defRPr>
            </a:pPr>
            <a:r>
              <a:rPr sz="1725" b="1">
                <a:solidFill>
                  <a:srgbClr val="171B20"/>
                </a:solidFill>
                <a:latin typeface="Manrope"/>
                <a:ea typeface="Manrope"/>
                <a:cs typeface="Manrope"/>
              </a:rPr>
              <a:t>Финальный план хранится версионно: черновик → согласование → утверждено → факт обновляет прогноз, но не переписывает утверждённую версию.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283646-DF55-4189-BD16-5434B26FD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055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76F79"/>
                </a:solidFill>
                <a:latin typeface="Manrope"/>
                <a:ea typeface="Manrope"/>
                <a:cs typeface="Manrope"/>
              </a:defRPr>
            </a:pPr>
            <a:r>
              <a:rPr sz="863" b="0">
                <a:solidFill>
                  <a:srgbClr val="676F79"/>
                </a:solidFill>
                <a:latin typeface="Manrope"/>
                <a:ea typeface="Manrope"/>
                <a:cs typeface="Manrope"/>
              </a:rPr>
              <a:t>Источники: планы продаж Google Sheets / Excel, внутренняя БД WB, MPSTATS-срез 2025-06..2026-06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E78EA8A-DA7B-4BCA-B681-D8DF9EB90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0555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76F79"/>
                </a:solidFill>
                <a:latin typeface="Manrope"/>
                <a:ea typeface="Manrope"/>
                <a:cs typeface="Manrope"/>
              </a:defRPr>
            </a:pPr>
            <a:r>
              <a:rPr sz="975" b="0">
                <a:solidFill>
                  <a:srgbClr val="676F79"/>
                </a:solidFill>
                <a:latin typeface="Manrope"/>
                <a:ea typeface="Manrope"/>
                <a:cs typeface="Manrope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81562202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C6FD80D-028C-4536-B322-372005FC3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111633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3" b="1">
                <a:solidFill>
                  <a:srgbClr val="171B20"/>
                </a:solidFill>
                <a:latin typeface="Manrope"/>
                <a:ea typeface="Manrope"/>
                <a:cs typeface="Manrope"/>
              </a:defRPr>
            </a:pPr>
            <a:r>
              <a:rPr sz="2903" b="1">
                <a:solidFill>
                  <a:srgbClr val="171B20"/>
                </a:solidFill>
                <a:latin typeface="Manrope"/>
                <a:ea typeface="Manrope"/>
                <a:cs typeface="Manrope"/>
              </a:rPr>
              <a:t>Заказы, выкупы и запас надо считать раздельно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F0B529-CCB9-4D71-B9C9-6193BE4AD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10572750" cy="89535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BE0E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B5CED0-03DD-4DF4-9F3A-EBA757089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69545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71B20"/>
                </a:solidFill>
                <a:latin typeface="Manrope"/>
                <a:ea typeface="Manrope"/>
                <a:cs typeface="Manrope"/>
              </a:defRPr>
            </a:pPr>
            <a:r>
              <a:rPr sz="2250" b="1">
                <a:solidFill>
                  <a:srgbClr val="171B20"/>
                </a:solidFill>
                <a:latin typeface="Manrope"/>
                <a:ea typeface="Manrope"/>
                <a:cs typeface="Manrope"/>
              </a:rPr>
              <a:t>orders forecast = baseline × seasonality × price/promo × ads × availability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F51684-2168-4BCF-AF77-5C1239127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52750"/>
            <a:ext cx="2514600" cy="161925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9FAFB"/>
          </a:solidFill>
          <a:ln xmlns:a="http://schemas.openxmlformats.org/drawingml/2006/main" w="9525">
            <a:solidFill>
              <a:srgbClr val="DBE0E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C83F45-8AB7-45CB-A129-F0C567F56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43250"/>
            <a:ext cx="2171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1B20"/>
                </a:solidFill>
                <a:latin typeface="Manrope"/>
                <a:ea typeface="Manrope"/>
                <a:cs typeface="Manrope"/>
              </a:defRPr>
            </a:pPr>
            <a:r>
              <a:rPr sz="1500" b="1">
                <a:solidFill>
                  <a:srgbClr val="171B20"/>
                </a:solidFill>
                <a:latin typeface="Manrope"/>
                <a:ea typeface="Manrope"/>
                <a:cs typeface="Manrope"/>
              </a:rPr>
              <a:t>Заказы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E7A261-9AA2-4D6F-9459-94E21AA1D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00450"/>
            <a:ext cx="21717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676F79"/>
                </a:solidFill>
                <a:latin typeface="Manrope"/>
                <a:ea typeface="Manrope"/>
                <a:cs typeface="Manrope"/>
              </a:defRPr>
            </a:pPr>
            <a:r>
              <a:rPr sz="1163" b="0">
                <a:solidFill>
                  <a:srgbClr val="676F79"/>
                </a:solidFill>
                <a:latin typeface="Manrope"/>
                <a:ea typeface="Manrope"/>
                <a:cs typeface="Manrope"/>
              </a:rPr>
              <a:t>спрос по SKU с учётом OOS и рынка</a:t>
            </a:r>
          </a:p>
        </p:txBody>
      </p:sp>
      <p:cxnSp>
        <p:nvCxnSpPr>
          <p:cNvPr id="29" name=""/>
          <p:cNvCxnSpPr/>
          <p:nvPr/>
        </p:nvCxnSpPr>
        <p:spPr>
          <a:xfrm xmlns:a="http://schemas.openxmlformats.org/drawingml/2006/main">
            <a:off x="3209925" y="3762375"/>
            <a:ext cx="114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BF50"/>
            </a:solidFill>
            <a:prstDash val="solid"/>
          </a:ln>
        </p:spPr>
      </p:cxn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2EB90E-2174-4E7B-A183-DC2DDA899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952750"/>
            <a:ext cx="2514600" cy="161925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9FAFB"/>
          </a:solidFill>
          <a:ln xmlns:a="http://schemas.openxmlformats.org/drawingml/2006/main" w="9525">
            <a:solidFill>
              <a:srgbClr val="DBE0E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27A930-2FEC-44E5-942C-912B703F8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143250"/>
            <a:ext cx="2171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1B20"/>
                </a:solidFill>
                <a:latin typeface="Manrope"/>
                <a:ea typeface="Manrope"/>
                <a:cs typeface="Manrope"/>
              </a:defRPr>
            </a:pPr>
            <a:r>
              <a:rPr sz="1500" b="1">
                <a:solidFill>
                  <a:srgbClr val="171B20"/>
                </a:solidFill>
                <a:latin typeface="Manrope"/>
                <a:ea typeface="Manrope"/>
                <a:cs typeface="Manrope"/>
              </a:rPr>
              <a:t>Выкупы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F7B24A-9466-40AB-8A45-AF347844A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600450"/>
            <a:ext cx="21717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676F79"/>
                </a:solidFill>
                <a:latin typeface="Manrope"/>
                <a:ea typeface="Manrope"/>
                <a:cs typeface="Manrope"/>
              </a:defRPr>
            </a:pPr>
            <a:r>
              <a:rPr sz="1163" b="0">
                <a:solidFill>
                  <a:srgbClr val="676F79"/>
                </a:solidFill>
                <a:latin typeface="Manrope"/>
                <a:ea typeface="Manrope"/>
                <a:cs typeface="Manrope"/>
              </a:rPr>
              <a:t>заказы × ожидаемый buyout, обновляется от факта</a:t>
            </a:r>
          </a:p>
        </p:txBody>
      </p:sp>
      <p:cxnSp>
        <p:nvCxnSpPr>
          <p:cNvPr id="33" name=""/>
          <p:cNvCxnSpPr/>
          <p:nvPr/>
        </p:nvCxnSpPr>
        <p:spPr>
          <a:xfrm xmlns:a="http://schemas.openxmlformats.org/drawingml/2006/main">
            <a:off x="5895975" y="3762375"/>
            <a:ext cx="114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BF50"/>
            </a:solidFill>
            <a:prstDash val="solid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1E7090-18A9-4767-A21E-F9356E5DC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952750"/>
            <a:ext cx="2514600" cy="161925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9FAFB"/>
          </a:solidFill>
          <a:ln xmlns:a="http://schemas.openxmlformats.org/drawingml/2006/main" w="9525">
            <a:solidFill>
              <a:srgbClr val="DBE0E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D57259-B745-4CF9-AB7C-68BC30D6F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143250"/>
            <a:ext cx="2171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1B20"/>
                </a:solidFill>
                <a:latin typeface="Manrope"/>
                <a:ea typeface="Manrope"/>
                <a:cs typeface="Manrope"/>
              </a:defRPr>
            </a:pPr>
            <a:r>
              <a:rPr sz="1500" b="1">
                <a:solidFill>
                  <a:srgbClr val="171B20"/>
                </a:solidFill>
                <a:latin typeface="Manrope"/>
                <a:ea typeface="Manrope"/>
                <a:cs typeface="Manrope"/>
              </a:rPr>
              <a:t>Сток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F7863B-1893-452D-83FF-FCDDEA980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600450"/>
            <a:ext cx="21717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676F79"/>
                </a:solidFill>
                <a:latin typeface="Manrope"/>
                <a:ea typeface="Manrope"/>
                <a:cs typeface="Manrope"/>
              </a:defRPr>
            </a:pPr>
            <a:r>
              <a:rPr sz="1163" b="0">
                <a:solidFill>
                  <a:srgbClr val="676F79"/>
                </a:solidFill>
                <a:latin typeface="Manrope"/>
                <a:ea typeface="Manrope"/>
                <a:cs typeface="Manrope"/>
              </a:rPr>
              <a:t>остаток + транзит + возвраты − выкупы</a:t>
            </a:r>
          </a:p>
        </p:txBody>
      </p:sp>
      <p:cxnSp>
        <p:nvCxnSpPr>
          <p:cNvPr id="37" name=""/>
          <p:cNvCxnSpPr/>
          <p:nvPr/>
        </p:nvCxnSpPr>
        <p:spPr>
          <a:xfrm xmlns:a="http://schemas.openxmlformats.org/drawingml/2006/main">
            <a:off x="8582025" y="3762375"/>
            <a:ext cx="114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BF50"/>
            </a:solidFill>
            <a:prstDash val="solid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66EF67-B8B7-4156-8810-AEE1CBC15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952750"/>
            <a:ext cx="2514600" cy="161925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9FAFB"/>
          </a:solidFill>
          <a:ln xmlns:a="http://schemas.openxmlformats.org/drawingml/2006/main" w="9525">
            <a:solidFill>
              <a:srgbClr val="DBE0E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1AC6C11-93AE-467C-9E77-655068223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143250"/>
            <a:ext cx="2171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1B20"/>
                </a:solidFill>
                <a:latin typeface="Manrope"/>
                <a:ea typeface="Manrope"/>
                <a:cs typeface="Manrope"/>
              </a:defRPr>
            </a:pPr>
            <a:r>
              <a:rPr sz="1500" b="1">
                <a:solidFill>
                  <a:srgbClr val="171B20"/>
                </a:solidFill>
                <a:latin typeface="Manrope"/>
                <a:ea typeface="Manrope"/>
                <a:cs typeface="Manrope"/>
              </a:rPr>
              <a:t>Закупка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FE008A0-0E16-4457-8BED-39AD9AABD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600450"/>
            <a:ext cx="21717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676F79"/>
                </a:solidFill>
                <a:latin typeface="Manrope"/>
                <a:ea typeface="Manrope"/>
                <a:cs typeface="Manrope"/>
              </a:defRPr>
            </a:pPr>
            <a:r>
              <a:rPr sz="1163" b="0">
                <a:solidFill>
                  <a:srgbClr val="676F79"/>
                </a:solidFill>
                <a:latin typeface="Manrope"/>
                <a:ea typeface="Manrope"/>
                <a:cs typeface="Manrope"/>
              </a:rPr>
              <a:t>дефицит + safety stock + MOQ/размеры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EF9F8CF-0A01-466A-A9DC-1405B9D88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9587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BF50"/>
                </a:solidFill>
                <a:latin typeface="Manrope"/>
                <a:ea typeface="Manrope"/>
                <a:cs typeface="Manrope"/>
              </a:defRPr>
            </a:pPr>
            <a:r>
              <a:rPr sz="1575" b="1">
                <a:solidFill>
                  <a:srgbClr val="17BF50"/>
                </a:solidFill>
                <a:latin typeface="Manrope"/>
                <a:ea typeface="Manrope"/>
                <a:cs typeface="Manrope"/>
              </a:rPr>
              <a:t>Отдельная физика WB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3585077-F70F-4D2D-A2D7-94B388F8B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9115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1B20"/>
                </a:solidFill>
                <a:latin typeface="Manrope"/>
                <a:ea typeface="Manrope"/>
                <a:cs typeface="Manrope"/>
              </a:defRPr>
            </a:pPr>
            <a:r>
              <a:rPr sz="1500" b="0">
                <a:solidFill>
                  <a:srgbClr val="171B20"/>
                </a:solidFill>
                <a:latin typeface="Manrope"/>
                <a:ea typeface="Manrope"/>
                <a:cs typeface="Manrope"/>
              </a:rPr>
              <a:t>Товар находится в обороте у покупателей примерно 14 дней, поэтому дозаказ нельзя считать только как “план продаж минус остаток”. Нужно учитывать товар в пути к клиенту и возвраты.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D1A0FF2-DB83-48F4-AB06-6E928F482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055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76F79"/>
                </a:solidFill>
                <a:latin typeface="Manrope"/>
                <a:ea typeface="Manrope"/>
                <a:cs typeface="Manrope"/>
              </a:defRPr>
            </a:pPr>
            <a:r>
              <a:rPr sz="863" b="0">
                <a:solidFill>
                  <a:srgbClr val="676F79"/>
                </a:solidFill>
                <a:latin typeface="Manrope"/>
                <a:ea typeface="Manrope"/>
                <a:cs typeface="Manrope"/>
              </a:rPr>
              <a:t>Источники: планы продаж Google Sheets / Excel, внутренняя БД WB, MPSTATS-срез 2025-06..2026-06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B7A12FC-B2A2-401E-821C-989AAA33B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0555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76F79"/>
                </a:solidFill>
                <a:latin typeface="Manrope"/>
                <a:ea typeface="Manrope"/>
                <a:cs typeface="Manrope"/>
              </a:defRPr>
            </a:pPr>
            <a:r>
              <a:rPr sz="975" b="0">
                <a:solidFill>
                  <a:srgbClr val="676F79"/>
                </a:solidFill>
                <a:latin typeface="Manrope"/>
                <a:ea typeface="Manrope"/>
                <a:cs typeface="Manrope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42153297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64A94D2-75FD-405A-B02B-C5F489AB6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111633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3" b="1">
                <a:solidFill>
                  <a:srgbClr val="171B20"/>
                </a:solidFill>
                <a:latin typeface="Manrope"/>
                <a:ea typeface="Manrope"/>
                <a:cs typeface="Manrope"/>
              </a:defRPr>
            </a:pPr>
            <a:r>
              <a:rPr sz="2903" b="1">
                <a:solidFill>
                  <a:srgbClr val="171B20"/>
                </a:solidFill>
                <a:latin typeface="Manrope"/>
                <a:ea typeface="Manrope"/>
                <a:cs typeface="Manrope"/>
              </a:rPr>
              <a:t>Лучшее место в продукте: Финансы → Планирование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39EF69-A650-4678-89B7-DD8E81EEB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76375"/>
            <a:ext cx="2381250" cy="3905250"/>
          </a:xfrm>
          <a:prstGeom xmlns:a="http://schemas.openxmlformats.org/drawingml/2006/main" prst="roundRect">
            <a:avLst>
              <a:gd name="adj" fmla="val 2400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BE0E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F8CD0B-50FD-4449-9C79-2A1FC1A8C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09750"/>
            <a:ext cx="18573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0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6C8DE5-AAC6-46F5-83E3-A4EFA0EE5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90500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171B20"/>
                </a:solidFill>
                <a:latin typeface="Manrope"/>
                <a:ea typeface="Manrope"/>
                <a:cs typeface="Manrope"/>
              </a:defRPr>
            </a:pPr>
            <a:r>
              <a:rPr sz="1238" b="0">
                <a:solidFill>
                  <a:srgbClr val="171B20"/>
                </a:solidFill>
                <a:latin typeface="Manrope"/>
                <a:ea typeface="Manrope"/>
                <a:cs typeface="Manrope"/>
              </a:rPr>
              <a:t>ОПиУ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463B3F-F1EB-46FD-B948-FAF37CF5D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19350"/>
            <a:ext cx="18573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0E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C574AF-473D-45A3-9C57-57F49AB74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1460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171B20"/>
                </a:solidFill>
                <a:latin typeface="Manrope"/>
                <a:ea typeface="Manrope"/>
                <a:cs typeface="Manrope"/>
              </a:defRPr>
            </a:pPr>
            <a:r>
              <a:rPr sz="1238" b="0">
                <a:solidFill>
                  <a:srgbClr val="171B20"/>
                </a:solidFill>
                <a:latin typeface="Manrope"/>
                <a:ea typeface="Manrope"/>
                <a:cs typeface="Manrope"/>
              </a:rPr>
              <a:t>ДДС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B5DA7D-5858-4431-AC6F-1961F1FE1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28950"/>
            <a:ext cx="18573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0E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5A0BD6-E568-45D8-8489-0534F2078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12420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171B20"/>
                </a:solidFill>
                <a:latin typeface="Manrope"/>
                <a:ea typeface="Manrope"/>
                <a:cs typeface="Manrope"/>
              </a:defRPr>
            </a:pPr>
            <a:r>
              <a:rPr sz="1238" b="0">
                <a:solidFill>
                  <a:srgbClr val="171B20"/>
                </a:solidFill>
                <a:latin typeface="Manrope"/>
                <a:ea typeface="Manrope"/>
                <a:cs typeface="Manrope"/>
              </a:rPr>
              <a:t>Закупки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531D2D-8A63-417D-ACBB-A07DF3349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38550"/>
            <a:ext cx="18573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BF50"/>
          </a:solidFill>
          <a:ln xmlns:a="http://schemas.openxmlformats.org/drawingml/2006/main" w="9525">
            <a:solidFill>
              <a:srgbClr val="DBE0E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034C77-40E4-4C52-9EBF-953DA6789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3380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38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238" b="1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Планирование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D68225-DB02-45BD-9FAB-8097D0FB6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48150"/>
            <a:ext cx="18573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0E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5A82D3-E4EA-45A2-B0B4-F48B46489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34340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171B20"/>
                </a:solidFill>
                <a:latin typeface="Manrope"/>
                <a:ea typeface="Manrope"/>
                <a:cs typeface="Manrope"/>
              </a:defRPr>
            </a:pPr>
            <a:r>
              <a:rPr sz="1238" b="0">
                <a:solidFill>
                  <a:srgbClr val="171B20"/>
                </a:solidFill>
                <a:latin typeface="Manrope"/>
                <a:ea typeface="Manrope"/>
                <a:cs typeface="Manrope"/>
              </a:rPr>
              <a:t>План-факт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EB5564-CF99-452E-9B98-10ADE3D70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476375"/>
            <a:ext cx="7620000" cy="3905250"/>
          </a:xfrm>
          <a:prstGeom xmlns:a="http://schemas.openxmlformats.org/drawingml/2006/main" prst="roundRect">
            <a:avLst>
              <a:gd name="adj" fmla="val 14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D2D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70A249-6C1A-402F-B24E-4D03AE3A0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80975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71B20"/>
                </a:solidFill>
                <a:latin typeface="Manrope"/>
                <a:ea typeface="Manrope"/>
                <a:cs typeface="Manrope"/>
              </a:defRPr>
            </a:pPr>
            <a:r>
              <a:rPr sz="1950" b="1">
                <a:solidFill>
                  <a:srgbClr val="171B20"/>
                </a:solidFill>
                <a:latin typeface="Manrope"/>
                <a:ea typeface="Manrope"/>
                <a:cs typeface="Manrope"/>
              </a:rPr>
              <a:t>Внутри раздела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6DA7BF-4E02-42FA-A011-5E95931D1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428875"/>
            <a:ext cx="2000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B20"/>
          </a:solidFill>
          <a:ln xmlns:a="http://schemas.openxmlformats.org/drawingml/2006/main" w="9525">
            <a:solidFill>
              <a:srgbClr val="D3D2D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172C4D-37DC-4F05-B9F5-038981344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725" y="2505075"/>
            <a:ext cx="1828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088" b="1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Экран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97EC190-C0A9-4CA5-BC94-E91BF4C05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428875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B20"/>
          </a:solidFill>
          <a:ln xmlns:a="http://schemas.openxmlformats.org/drawingml/2006/main" w="9525">
            <a:solidFill>
              <a:srgbClr val="D3D2D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1159B4F-50FC-4BD6-BCB1-04BEB58B3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975" y="2505075"/>
            <a:ext cx="1447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088" b="1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Отвечает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DC3B1F3-061D-4ACF-9121-82CB71423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428875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B20"/>
          </a:solidFill>
          <a:ln xmlns:a="http://schemas.openxmlformats.org/drawingml/2006/main" w="9525">
            <a:solidFill>
              <a:srgbClr val="D3D2D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6B01BFC-05AE-4DF9-A556-FBC105E0E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2505075"/>
            <a:ext cx="1447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088" b="1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Источник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D5965EE-61C8-49F8-A429-28F8218E9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428875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B20"/>
          </a:solidFill>
          <a:ln xmlns:a="http://schemas.openxmlformats.org/drawingml/2006/main" w="9525">
            <a:solidFill>
              <a:srgbClr val="D3D2D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C4952CF-C125-4BC8-B8B2-FBE302595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2505075"/>
            <a:ext cx="1447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088" b="1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Результат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2A017AF-ED3E-4AFD-8A99-217DE5EF9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981325"/>
            <a:ext cx="2000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B"/>
          </a:solidFill>
          <a:ln xmlns:a="http://schemas.openxmlformats.org/drawingml/2006/main" w="9525">
            <a:solidFill>
              <a:srgbClr val="D3D2D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7212542-9553-4904-B7F2-0CAD76D6E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725" y="3057525"/>
            <a:ext cx="1828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71B20"/>
                </a:solidFill>
                <a:latin typeface="Manrope"/>
                <a:ea typeface="Manrope"/>
                <a:cs typeface="Manrope"/>
              </a:defRPr>
            </a:pPr>
            <a:r>
              <a:rPr sz="1088" b="0">
                <a:solidFill>
                  <a:srgbClr val="171B20"/>
                </a:solidFill>
                <a:latin typeface="Manrope"/>
                <a:ea typeface="Manrope"/>
                <a:cs typeface="Manrope"/>
              </a:rPr>
              <a:t>Прогноз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3D6F9A1-0401-4B5B-99BB-99AF2B7C6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981325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B"/>
          </a:solidFill>
          <a:ln xmlns:a="http://schemas.openxmlformats.org/drawingml/2006/main" w="9525">
            <a:solidFill>
              <a:srgbClr val="D3D2D2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3CAF644-A17A-4FEB-A786-3DB45FE72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975" y="3057525"/>
            <a:ext cx="1447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71B20"/>
                </a:solidFill>
                <a:latin typeface="Manrope"/>
                <a:ea typeface="Manrope"/>
                <a:cs typeface="Manrope"/>
              </a:defRPr>
            </a:pPr>
            <a:r>
              <a:rPr sz="1088" b="0">
                <a:solidFill>
                  <a:srgbClr val="171B20"/>
                </a:solidFill>
                <a:latin typeface="Manrope"/>
                <a:ea typeface="Manrope"/>
                <a:cs typeface="Manrope"/>
              </a:rPr>
              <a:t>сколько продадим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6A9FB6A-3E2F-474B-B256-B78E3CB3D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981325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B"/>
          </a:solidFill>
          <a:ln xmlns:a="http://schemas.openxmlformats.org/drawingml/2006/main" w="9525">
            <a:solidFill>
              <a:srgbClr val="D3D2D2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903373F-01C6-43FD-893A-86FBEE096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3057525"/>
            <a:ext cx="1447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71B20"/>
                </a:solidFill>
                <a:latin typeface="Manrope"/>
                <a:ea typeface="Manrope"/>
                <a:cs typeface="Manrope"/>
              </a:defRPr>
            </a:pPr>
            <a:r>
              <a:rPr sz="1088" b="0">
                <a:solidFill>
                  <a:srgbClr val="171B20"/>
                </a:solidFill>
                <a:latin typeface="Manrope"/>
                <a:ea typeface="Manrope"/>
                <a:cs typeface="Manrope"/>
              </a:rPr>
              <a:t>WB + MPSTATS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26A8726-2DC4-4B62-8534-5CCAA6C15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981325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B"/>
          </a:solidFill>
          <a:ln xmlns:a="http://schemas.openxmlformats.org/drawingml/2006/main" w="9525">
            <a:solidFill>
              <a:srgbClr val="D3D2D2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1C3367C-8C41-4F30-B61E-E764CEDF6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3057525"/>
            <a:ext cx="1447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71B20"/>
                </a:solidFill>
                <a:latin typeface="Manrope"/>
                <a:ea typeface="Manrope"/>
                <a:cs typeface="Manrope"/>
              </a:defRPr>
            </a:pPr>
            <a:r>
              <a:rPr sz="1088" b="0">
                <a:solidFill>
                  <a:srgbClr val="171B20"/>
                </a:solidFill>
                <a:latin typeface="Manrope"/>
                <a:ea typeface="Manrope"/>
                <a:cs typeface="Manrope"/>
              </a:rPr>
              <a:t>P10/P50/P90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540CF1D-EA76-4397-B8BD-D0F6E5067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533775"/>
            <a:ext cx="2000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D2D2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D69F38F-DD7A-45CA-9E7B-89069FCEF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725" y="3609975"/>
            <a:ext cx="1828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71B20"/>
                </a:solidFill>
                <a:latin typeface="Manrope"/>
                <a:ea typeface="Manrope"/>
                <a:cs typeface="Manrope"/>
              </a:defRPr>
            </a:pPr>
            <a:r>
              <a:rPr sz="1088" b="0">
                <a:solidFill>
                  <a:srgbClr val="171B20"/>
                </a:solidFill>
                <a:latin typeface="Manrope"/>
                <a:ea typeface="Manrope"/>
                <a:cs typeface="Manrope"/>
              </a:rPr>
              <a:t>Закупка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326518F-C904-4FDD-BBB7-97E2CD230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533775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D2D2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D081362-0302-4A48-8388-B76F17DCF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975" y="3609975"/>
            <a:ext cx="1447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71B20"/>
                </a:solidFill>
                <a:latin typeface="Manrope"/>
                <a:ea typeface="Manrope"/>
                <a:cs typeface="Manrope"/>
              </a:defRPr>
            </a:pPr>
            <a:r>
              <a:rPr sz="1088" b="0">
                <a:solidFill>
                  <a:srgbClr val="171B20"/>
                </a:solidFill>
                <a:latin typeface="Manrope"/>
                <a:ea typeface="Manrope"/>
                <a:cs typeface="Manrope"/>
              </a:rPr>
              <a:t>что докупить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DE9BA64-2FAA-4691-ACE6-384CD3BB4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533775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D2D2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57F5B1C-852E-4BA1-94C6-2DA563F4B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3609975"/>
            <a:ext cx="1447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71B20"/>
                </a:solidFill>
                <a:latin typeface="Manrope"/>
                <a:ea typeface="Manrope"/>
                <a:cs typeface="Manrope"/>
              </a:defRPr>
            </a:pPr>
            <a:r>
              <a:rPr sz="1088" b="0">
                <a:solidFill>
                  <a:srgbClr val="171B20"/>
                </a:solidFill>
                <a:latin typeface="Manrope"/>
                <a:ea typeface="Manrope"/>
                <a:cs typeface="Manrope"/>
              </a:rPr>
              <a:t>остатки + партии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751A7CD-3DB2-4FD8-84D4-1BBF8459F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533775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D2D2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FF86ADF-A471-4821-8373-548F1B306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3609975"/>
            <a:ext cx="1447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71B20"/>
                </a:solidFill>
                <a:latin typeface="Manrope"/>
                <a:ea typeface="Manrope"/>
                <a:cs typeface="Manrope"/>
              </a:defRPr>
            </a:pPr>
            <a:r>
              <a:rPr sz="1088" b="0">
                <a:solidFill>
                  <a:srgbClr val="171B20"/>
                </a:solidFill>
                <a:latin typeface="Manrope"/>
                <a:ea typeface="Manrope"/>
                <a:cs typeface="Manrope"/>
              </a:rPr>
              <a:t>заказ по цветам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A249344-8DE1-4B9B-9E9B-76878A247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086225"/>
            <a:ext cx="2000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B"/>
          </a:solidFill>
          <a:ln xmlns:a="http://schemas.openxmlformats.org/drawingml/2006/main" w="9525">
            <a:solidFill>
              <a:srgbClr val="D3D2D2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64C0277-2B40-403A-82D9-4B7A1D3DE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725" y="4162425"/>
            <a:ext cx="1828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71B20"/>
                </a:solidFill>
                <a:latin typeface="Manrope"/>
                <a:ea typeface="Manrope"/>
                <a:cs typeface="Manrope"/>
              </a:defRPr>
            </a:pPr>
            <a:r>
              <a:rPr sz="1088" b="0">
                <a:solidFill>
                  <a:srgbClr val="171B20"/>
                </a:solidFill>
                <a:latin typeface="Manrope"/>
                <a:ea typeface="Manrope"/>
                <a:cs typeface="Manrope"/>
              </a:rPr>
              <a:t>План-факт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D70655F-D278-4811-B190-4C6952E58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086225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B"/>
          </a:solidFill>
          <a:ln xmlns:a="http://schemas.openxmlformats.org/drawingml/2006/main" w="9525">
            <a:solidFill>
              <a:srgbClr val="D3D2D2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8C3AD01-52C3-4B39-9554-E07B126AF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975" y="4162425"/>
            <a:ext cx="1447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71B20"/>
                </a:solidFill>
                <a:latin typeface="Manrope"/>
                <a:ea typeface="Manrope"/>
                <a:cs typeface="Manrope"/>
              </a:defRPr>
            </a:pPr>
            <a:r>
              <a:rPr sz="1088" b="0">
                <a:solidFill>
                  <a:srgbClr val="171B20"/>
                </a:solidFill>
                <a:latin typeface="Manrope"/>
                <a:ea typeface="Manrope"/>
                <a:cs typeface="Manrope"/>
              </a:rPr>
              <a:t>где ошибка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BB487A9-69A8-47A5-AA9A-D663C4130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086225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B"/>
          </a:solidFill>
          <a:ln xmlns:a="http://schemas.openxmlformats.org/drawingml/2006/main" w="9525">
            <a:solidFill>
              <a:srgbClr val="D3D2D2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C285BC7-459D-4ACD-8018-215C8C206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4162425"/>
            <a:ext cx="1447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71B20"/>
                </a:solidFill>
                <a:latin typeface="Manrope"/>
                <a:ea typeface="Manrope"/>
                <a:cs typeface="Manrope"/>
              </a:defRPr>
            </a:pPr>
            <a:r>
              <a:rPr sz="1088" b="0">
                <a:solidFill>
                  <a:srgbClr val="171B20"/>
                </a:solidFill>
                <a:latin typeface="Manrope"/>
                <a:ea typeface="Manrope"/>
                <a:cs typeface="Manrope"/>
              </a:rPr>
              <a:t>факт каждый день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D16045B-77DD-4E42-92A1-7CCE65AEE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086225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B"/>
          </a:solidFill>
          <a:ln xmlns:a="http://schemas.openxmlformats.org/drawingml/2006/main" w="9525">
            <a:solidFill>
              <a:srgbClr val="D3D2D2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71A6CFB-2D89-4C65-9E69-AA4966EF4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4162425"/>
            <a:ext cx="1447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71B20"/>
                </a:solidFill>
                <a:latin typeface="Manrope"/>
                <a:ea typeface="Manrope"/>
                <a:cs typeface="Manrope"/>
              </a:defRPr>
            </a:pPr>
            <a:r>
              <a:rPr sz="1088" b="0">
                <a:solidFill>
                  <a:srgbClr val="171B20"/>
                </a:solidFill>
                <a:latin typeface="Manrope"/>
                <a:ea typeface="Manrope"/>
                <a:cs typeface="Manrope"/>
              </a:rPr>
              <a:t>коррекция модели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45A3206-49AD-424C-B1BF-E1F0D9577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857750"/>
            <a:ext cx="666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5397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BF50"/>
                </a:solidFill>
                <a:latin typeface="Manrope"/>
                <a:ea typeface="Manrope"/>
                <a:cs typeface="Manrope"/>
              </a:defRPr>
            </a:pPr>
            <a:r>
              <a:rPr sz="1575" b="1">
                <a:solidFill>
                  <a:srgbClr val="17BF50"/>
                </a:solidFill>
                <a:latin typeface="Manrope"/>
                <a:ea typeface="Manrope"/>
                <a:cs typeface="Manrope"/>
              </a:rPr>
              <a:t>Так модуль не дублирует ОПиУ: он становится входом для будущей выручки, закупки и ДДС.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13D753B-96F6-4EA2-94F3-E82515B94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055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76F79"/>
                </a:solidFill>
                <a:latin typeface="Manrope"/>
                <a:ea typeface="Manrope"/>
                <a:cs typeface="Manrope"/>
              </a:defRPr>
            </a:pPr>
            <a:r>
              <a:rPr sz="863" b="0">
                <a:solidFill>
                  <a:srgbClr val="676F79"/>
                </a:solidFill>
                <a:latin typeface="Manrope"/>
                <a:ea typeface="Manrope"/>
                <a:cs typeface="Manrope"/>
              </a:rPr>
              <a:t>Источники: планы продаж Google Sheets / Excel, внутренняя БД WB, MPSTATS-срез 2025-06..2026-06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0FCFD03-A3DC-4599-8474-7C9CA85BD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0555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76F79"/>
                </a:solidFill>
                <a:latin typeface="Manrope"/>
                <a:ea typeface="Manrope"/>
                <a:cs typeface="Manrope"/>
              </a:defRPr>
            </a:pPr>
            <a:r>
              <a:rPr sz="975" b="0">
                <a:solidFill>
                  <a:srgbClr val="676F79"/>
                </a:solidFill>
                <a:latin typeface="Manrope"/>
                <a:ea typeface="Manrope"/>
                <a:cs typeface="Manrope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53945280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CBF65B7-F0B3-4FEA-AE8F-F4A92A76E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111633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3" b="1">
                <a:solidFill>
                  <a:srgbClr val="171B20"/>
                </a:solidFill>
                <a:latin typeface="Manrope"/>
                <a:ea typeface="Manrope"/>
                <a:cs typeface="Manrope"/>
              </a:defRPr>
            </a:pPr>
            <a:r>
              <a:rPr sz="2903" b="1">
                <a:solidFill>
                  <a:srgbClr val="171B20"/>
                </a:solidFill>
                <a:latin typeface="Manrope"/>
                <a:ea typeface="Manrope"/>
                <a:cs typeface="Manrope"/>
              </a:rPr>
              <a:t>MVP можно внедрить в три этапа без боевых автодействий</a:t>
            </a:r>
          </a:p>
        </p:txBody>
      </p:sp>
      <p:cxnSp>
        <p:nvCxnSpPr>
          <p:cNvPr id="19" name=""/>
          <p:cNvCxnSpPr/>
          <p:nvPr/>
        </p:nvCxnSpPr>
        <p:spPr>
          <a:xfrm xmlns:a="http://schemas.openxmlformats.org/drawingml/2006/main">
            <a:off x="819150" y="3333750"/>
            <a:ext cx="10287000" cy="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171B20"/>
            </a:solidFill>
            <a:prstDash val="solid"/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E2B12A-216F-48F6-A09D-AA19737E1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575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BF50"/>
          </a:solidFill>
          <a:ln xmlns:a="http://schemas.openxmlformats.org/drawingml/2006/main" w="0">
            <a:solidFill>
              <a:srgbClr val="17BF5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F0B8E5-DE0B-469F-8778-CA44A5247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8003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76F79"/>
                </a:solidFill>
                <a:latin typeface="Manrope"/>
                <a:ea typeface="Manrope"/>
                <a:cs typeface="Manrope"/>
              </a:defRPr>
            </a:pPr>
            <a:r>
              <a:rPr sz="1350" b="0">
                <a:solidFill>
                  <a:srgbClr val="676F79"/>
                </a:solidFill>
                <a:latin typeface="Manrope"/>
                <a:ea typeface="Manrope"/>
                <a:cs typeface="Manrope"/>
              </a:rPr>
              <a:t>2 недели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2A181D-C5D7-4456-B82A-090C5D5AB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762375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1B20"/>
                </a:solidFill>
                <a:latin typeface="Manrope"/>
                <a:ea typeface="Manrope"/>
                <a:cs typeface="Manrope"/>
              </a:defRPr>
            </a:pPr>
            <a:r>
              <a:rPr sz="1800" b="1">
                <a:solidFill>
                  <a:srgbClr val="171B20"/>
                </a:solidFill>
                <a:latin typeface="Manrope"/>
                <a:ea typeface="Manrope"/>
                <a:cs typeface="Manrope"/>
              </a:rPr>
              <a:t>Импорт и модель данных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47CA4A-C33F-4BE0-B24F-73084F022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333875"/>
            <a:ext cx="2952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76F79"/>
                </a:solidFill>
                <a:latin typeface="Manrope"/>
                <a:ea typeface="Manrope"/>
                <a:cs typeface="Manrope"/>
              </a:defRPr>
            </a:pPr>
            <a:r>
              <a:rPr sz="1275" b="0">
                <a:solidFill>
                  <a:srgbClr val="676F79"/>
                </a:solidFill>
                <a:latin typeface="Manrope"/>
                <a:ea typeface="Manrope"/>
                <a:cs typeface="Manrope"/>
              </a:rPr>
              <a:t>sales_plan, assumptions, plan_items; перенос текущего Excel в БД.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05F729-2572-4DB8-AF50-58CF83F22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32575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BF50"/>
          </a:solidFill>
          <a:ln xmlns:a="http://schemas.openxmlformats.org/drawingml/2006/main" w="0">
            <a:solidFill>
              <a:srgbClr val="17BF5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DD02A9-229F-4122-95A9-CD6BC6E5C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8003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76F79"/>
                </a:solidFill>
                <a:latin typeface="Manrope"/>
                <a:ea typeface="Manrope"/>
                <a:cs typeface="Manrope"/>
              </a:defRPr>
            </a:pPr>
            <a:r>
              <a:rPr sz="1350" b="0">
                <a:solidFill>
                  <a:srgbClr val="676F79"/>
                </a:solidFill>
                <a:latin typeface="Manrope"/>
                <a:ea typeface="Manrope"/>
                <a:cs typeface="Manrope"/>
              </a:rPr>
              <a:t>3-4 недели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374B10-9846-4FA8-A463-79AD49E3D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762375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1B20"/>
                </a:solidFill>
                <a:latin typeface="Manrope"/>
                <a:ea typeface="Manrope"/>
                <a:cs typeface="Manrope"/>
              </a:defRPr>
            </a:pPr>
            <a:r>
              <a:rPr sz="1800" b="1">
                <a:solidFill>
                  <a:srgbClr val="171B20"/>
                </a:solidFill>
                <a:latin typeface="Manrope"/>
                <a:ea typeface="Manrope"/>
                <a:cs typeface="Manrope"/>
              </a:rPr>
              <a:t>Прогноз и сценарии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E6309A-CFB6-4E8A-B45A-DC875CADF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333875"/>
            <a:ext cx="2952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76F79"/>
                </a:solidFill>
                <a:latin typeface="Manrope"/>
                <a:ea typeface="Manrope"/>
                <a:cs typeface="Manrope"/>
              </a:defRPr>
            </a:pPr>
            <a:r>
              <a:rPr sz="1275" b="0">
                <a:solidFill>
                  <a:srgbClr val="676F79"/>
                </a:solidFill>
                <a:latin typeface="Manrope"/>
                <a:ea typeface="Manrope"/>
                <a:cs typeface="Manrope"/>
              </a:rPr>
              <a:t>baseline по факту, сезонность MPSTATS, ручные overrides, экспорт.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547258-BE2F-42F8-BE5F-EAD1277B6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2575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BF50"/>
          </a:solidFill>
          <a:ln xmlns:a="http://schemas.openxmlformats.org/drawingml/2006/main" w="0">
            <a:solidFill>
              <a:srgbClr val="17BF5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629388-1FF1-445B-91E9-C4BFDFF0E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8003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76F79"/>
                </a:solidFill>
                <a:latin typeface="Manrope"/>
                <a:ea typeface="Manrope"/>
                <a:cs typeface="Manrope"/>
              </a:defRPr>
            </a:pPr>
            <a:r>
              <a:rPr sz="1350" b="0">
                <a:solidFill>
                  <a:srgbClr val="676F79"/>
                </a:solidFill>
                <a:latin typeface="Manrope"/>
                <a:ea typeface="Manrope"/>
                <a:cs typeface="Manrope"/>
              </a:rPr>
              <a:t>2 недели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ED56E0-6835-4161-B6C1-0BAE45982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762375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1B20"/>
                </a:solidFill>
                <a:latin typeface="Manrope"/>
                <a:ea typeface="Manrope"/>
                <a:cs typeface="Manrope"/>
              </a:defRPr>
            </a:pPr>
            <a:r>
              <a:rPr sz="1800" b="1">
                <a:solidFill>
                  <a:srgbClr val="171B20"/>
                </a:solidFill>
                <a:latin typeface="Manrope"/>
                <a:ea typeface="Manrope"/>
                <a:cs typeface="Manrope"/>
              </a:rPr>
              <a:t>План-факт и самообучение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8F0F7F-2CBA-4B0D-B522-936A0C5E0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4333875"/>
            <a:ext cx="2952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76F79"/>
                </a:solidFill>
                <a:latin typeface="Manrope"/>
                <a:ea typeface="Manrope"/>
                <a:cs typeface="Manrope"/>
              </a:defRPr>
            </a:pPr>
            <a:r>
              <a:rPr sz="1275" b="0">
                <a:solidFill>
                  <a:srgbClr val="676F79"/>
                </a:solidFill>
                <a:latin typeface="Manrope"/>
                <a:ea typeface="Manrope"/>
                <a:cs typeface="Manrope"/>
              </a:rPr>
              <a:t>WAPE, bias, weekly reforecast, журнал согласования.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14A4D4-F112-4C35-AE33-44EDF0A66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24500"/>
            <a:ext cx="990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7612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C98900"/>
                </a:solidFill>
                <a:latin typeface="Manrope"/>
                <a:ea typeface="Manrope"/>
                <a:cs typeface="Manrope"/>
              </a:defRPr>
            </a:pPr>
            <a:r>
              <a:rPr sz="1575" b="1">
                <a:solidFill>
                  <a:srgbClr val="C98900"/>
                </a:solidFill>
                <a:latin typeface="Manrope"/>
                <a:ea typeface="Manrope"/>
                <a:cs typeface="Manrope"/>
              </a:rPr>
              <a:t>Важно: MVP только считает и согласует. Автозакупки, автоправки цен и рекламные действия лучше оставить за отдельными гейтами.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701C91-1C1F-4CB7-AE5E-D7B98E44D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055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76F79"/>
                </a:solidFill>
                <a:latin typeface="Manrope"/>
                <a:ea typeface="Manrope"/>
                <a:cs typeface="Manrope"/>
              </a:defRPr>
            </a:pPr>
            <a:r>
              <a:rPr sz="863" b="0">
                <a:solidFill>
                  <a:srgbClr val="676F79"/>
                </a:solidFill>
                <a:latin typeface="Manrope"/>
                <a:ea typeface="Manrope"/>
                <a:cs typeface="Manrope"/>
              </a:rPr>
              <a:t>Источники: планы продаж Google Sheets / Excel, внутренняя БД WB, MPSTATS-срез 2025-06..2026-06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C8D414C-DC11-4452-B41F-E61F8DD0A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0555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76F79"/>
                </a:solidFill>
                <a:latin typeface="Manrope"/>
                <a:ea typeface="Manrope"/>
                <a:cs typeface="Manrope"/>
              </a:defRPr>
            </a:pPr>
            <a:r>
              <a:rPr sz="975" b="0">
                <a:solidFill>
                  <a:srgbClr val="676F79"/>
                </a:solidFill>
                <a:latin typeface="Manrope"/>
                <a:ea typeface="Manrope"/>
                <a:cs typeface="Manrope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58976708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46A8D0D-5A70-4E16-AFF5-3EAC6E3EB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62125"/>
            <a:ext cx="8382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171B20"/>
                </a:solidFill>
                <a:latin typeface="Manrope"/>
                <a:ea typeface="Manrope"/>
                <a:cs typeface="Manrope"/>
              </a:defRPr>
            </a:pPr>
            <a:r>
              <a:rPr sz="4650" b="1">
                <a:solidFill>
                  <a:srgbClr val="171B20"/>
                </a:solidFill>
                <a:latin typeface="Manrope"/>
                <a:ea typeface="Manrope"/>
                <a:cs typeface="Manrope"/>
              </a:rPr>
              <a:t>Что нужно утвердить сейчас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84E0BB-9066-483D-AC8A-FC87AD74D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33813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BF50"/>
          </a:solidFill>
          <a:ln xmlns:a="http://schemas.openxmlformats.org/drawingml/2006/main" w="0">
            <a:solidFill>
              <a:srgbClr val="17BF5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C22BFC-0A05-484F-A0E1-33B67BEB3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286125"/>
            <a:ext cx="91249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1B20"/>
                </a:solidFill>
                <a:latin typeface="Manrope"/>
                <a:ea typeface="Manrope"/>
                <a:cs typeface="Manrope"/>
              </a:defRPr>
            </a:pPr>
            <a:r>
              <a:rPr sz="1575" b="0">
                <a:solidFill>
                  <a:srgbClr val="171B20"/>
                </a:solidFill>
                <a:latin typeface="Manrope"/>
                <a:ea typeface="Manrope"/>
                <a:cs typeface="Manrope"/>
              </a:rPr>
              <a:t>Добавляем отдельный раздел «Финансы → Планирование».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38F81D-A3D7-4DB0-BA70-7FA48C382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38100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BF50"/>
          </a:solidFill>
          <a:ln xmlns:a="http://schemas.openxmlformats.org/drawingml/2006/main" w="0">
            <a:solidFill>
              <a:srgbClr val="17BF5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FD0774-7FB4-47BC-BFA0-4311B9E43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714750"/>
            <a:ext cx="91249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1B20"/>
                </a:solidFill>
                <a:latin typeface="Manrope"/>
                <a:ea typeface="Manrope"/>
                <a:cs typeface="Manrope"/>
              </a:defRPr>
            </a:pPr>
            <a:r>
              <a:rPr sz="1575" b="0">
                <a:solidFill>
                  <a:srgbClr val="171B20"/>
                </a:solidFill>
                <a:latin typeface="Manrope"/>
                <a:ea typeface="Manrope"/>
                <a:cs typeface="Manrope"/>
              </a:rPr>
              <a:t>MVP берёт факт из существующих WB-синков и рынок из MPSTATS.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16341C-25B7-4663-A472-A1293E949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2386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BF50"/>
          </a:solidFill>
          <a:ln xmlns:a="http://schemas.openxmlformats.org/drawingml/2006/main" w="0">
            <a:solidFill>
              <a:srgbClr val="17BF5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8234CA-B81B-4818-BF42-455E9C1D4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4143375"/>
            <a:ext cx="91249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1B20"/>
                </a:solidFill>
                <a:latin typeface="Manrope"/>
                <a:ea typeface="Manrope"/>
                <a:cs typeface="Manrope"/>
              </a:defRPr>
            </a:pPr>
            <a:r>
              <a:rPr sz="1575" b="0">
                <a:solidFill>
                  <a:srgbClr val="171B20"/>
                </a:solidFill>
                <a:latin typeface="Manrope"/>
                <a:ea typeface="Manrope"/>
                <a:cs typeface="Manrope"/>
              </a:rPr>
              <a:t>Ручные корректировки сохраняются как assumptions и overrides.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753D27-3D8D-475B-AD40-01E4DD61F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6672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BF50"/>
          </a:solidFill>
          <a:ln xmlns:a="http://schemas.openxmlformats.org/drawingml/2006/main" w="0">
            <a:solidFill>
              <a:srgbClr val="17BF5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9A7518-2C3E-4BF5-84E2-715771F23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4572000"/>
            <a:ext cx="91249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1B20"/>
                </a:solidFill>
                <a:latin typeface="Manrope"/>
                <a:ea typeface="Manrope"/>
                <a:cs typeface="Manrope"/>
              </a:defRPr>
            </a:pPr>
            <a:r>
              <a:rPr sz="1575" b="0">
                <a:solidFill>
                  <a:srgbClr val="171B20"/>
                </a:solidFill>
                <a:latin typeface="Manrope"/>
                <a:ea typeface="Manrope"/>
                <a:cs typeface="Manrope"/>
              </a:rPr>
              <a:t>План утверждается версиями; факт не перетирает утвержденный план.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C1756C-06A0-4C58-A732-67E06E9F5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50958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BF50"/>
          </a:solidFill>
          <a:ln xmlns:a="http://schemas.openxmlformats.org/drawingml/2006/main" w="0">
            <a:solidFill>
              <a:srgbClr val="17BF5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594645-B787-4876-8E98-FCA8D73B7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5000625"/>
            <a:ext cx="91249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1B20"/>
                </a:solidFill>
                <a:latin typeface="Manrope"/>
                <a:ea typeface="Manrope"/>
                <a:cs typeface="Manrope"/>
              </a:defRPr>
            </a:pPr>
            <a:r>
              <a:rPr sz="1575" b="0">
                <a:solidFill>
                  <a:srgbClr val="171B20"/>
                </a:solidFill>
                <a:latin typeface="Manrope"/>
                <a:ea typeface="Manrope"/>
                <a:cs typeface="Manrope"/>
              </a:rPr>
              <a:t>Пилотируем на NORVIA: ветровки, демисезон, зима.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62CE42-7769-4FC9-94A6-ED648DAD5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5000"/>
            <a:ext cx="914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5957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B20"/>
                </a:solidFill>
                <a:latin typeface="Manrope"/>
                <a:ea typeface="Manrope"/>
                <a:cs typeface="Manrope"/>
              </a:defRPr>
            </a:pPr>
            <a:r>
              <a:rPr sz="1650" b="1">
                <a:solidFill>
                  <a:srgbClr val="171B20"/>
                </a:solidFill>
                <a:latin typeface="Manrope"/>
                <a:ea typeface="Manrope"/>
                <a:cs typeface="Manrope"/>
              </a:rPr>
              <a:t>После согласования можно писать ТЗ на схему БД, API /planning и первый экран импорта текущих планов.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23440B-AB30-4424-A97E-51CF7B34B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055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76F79"/>
                </a:solidFill>
                <a:latin typeface="Manrope"/>
                <a:ea typeface="Manrope"/>
                <a:cs typeface="Manrope"/>
              </a:defRPr>
            </a:pPr>
            <a:r>
              <a:rPr sz="863" b="0">
                <a:solidFill>
                  <a:srgbClr val="676F79"/>
                </a:solidFill>
                <a:latin typeface="Manrope"/>
                <a:ea typeface="Manrope"/>
                <a:cs typeface="Manrope"/>
              </a:rPr>
              <a:t>Решение для обсуждения с командой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188007-60D4-4FE1-90B1-B077BBBC6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0555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76F79"/>
                </a:solidFill>
                <a:latin typeface="Manrope"/>
                <a:ea typeface="Manrope"/>
                <a:cs typeface="Manrope"/>
              </a:defRPr>
            </a:pPr>
            <a:r>
              <a:rPr sz="975" b="0">
                <a:solidFill>
                  <a:srgbClr val="676F79"/>
                </a:solidFill>
                <a:latin typeface="Manrope"/>
                <a:ea typeface="Manrope"/>
                <a:cs typeface="Manrope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3979752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2026-07-15T18:00:51.8580000Z</dcterms:created>
  <dcterms:modified xsi:type="dcterms:W3CDTF">2026-07-15T18:00:51.8580000Z</dcterms:modified>
</coreProperties>
</file>